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71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1A40"/>
          </a:solidFill>
          <a:ln/>
        </p:spPr>
      </p:sp>
      <p:sp>
        <p:nvSpPr>
          <p:cNvPr id="3" name="Shape 1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3D2960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828800" y="4114800"/>
            <a:ext cx="4572000" cy="4572000"/>
          </a:xfrm>
          <a:prstGeom prst="ellipse">
            <a:avLst/>
          </a:prstGeom>
          <a:solidFill>
            <a:srgbClr val="C9962C">
              <a:alpha val="1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33172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C9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給与台帳アプリ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78892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機能ガイド・使い方と注意点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9776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C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一般ユーザー編／管理者編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4709160"/>
            <a:ext cx="2011680" cy="0"/>
          </a:xfrm>
          <a:prstGeom prst="line">
            <a:avLst/>
          </a:prstGeom>
          <a:noFill/>
          <a:ln w="25400">
            <a:solidFill>
              <a:srgbClr val="C996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92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9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29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このアプリでできること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514600" cy="3246120"/>
          </a:xfrm>
          <a:prstGeom prst="roundRect">
            <a:avLst>
              <a:gd name="adj" fmla="val 4364"/>
            </a:avLst>
          </a:prstGeom>
          <a:solidFill>
            <a:srgbClr val="EFEAFA"/>
          </a:solidFill>
          <a:ln/>
        </p:spPr>
      </p:sp>
      <p:sp>
        <p:nvSpPr>
          <p:cNvPr id="5" name="Shape 3"/>
          <p:cNvSpPr/>
          <p:nvPr/>
        </p:nvSpPr>
        <p:spPr>
          <a:xfrm>
            <a:off x="1394460" y="2286000"/>
            <a:ext cx="822960" cy="822960"/>
          </a:xfrm>
          <a:prstGeom prst="ellipse">
            <a:avLst/>
          </a:prstGeom>
          <a:solidFill>
            <a:srgbClr val="3D2960"/>
          </a:solidFill>
          <a:ln/>
        </p:spPr>
      </p:sp>
      <p:sp>
        <p:nvSpPr>
          <p:cNvPr id="6" name="Text 4"/>
          <p:cNvSpPr/>
          <p:nvPr/>
        </p:nvSpPr>
        <p:spPr>
          <a:xfrm>
            <a:off x="1394460" y="226771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13232" y="3291840"/>
            <a:ext cx="21854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給与明細の閲覧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931920"/>
            <a:ext cx="21122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毎月の明細PDFをスマホ・PCからいつでも確認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19272" y="1965960"/>
            <a:ext cx="2514600" cy="3246120"/>
          </a:xfrm>
          <a:prstGeom prst="roundRect">
            <a:avLst>
              <a:gd name="adj" fmla="val 4364"/>
            </a:avLst>
          </a:prstGeom>
          <a:solidFill>
            <a:srgbClr val="EFEAFA"/>
          </a:solidFill>
          <a:ln/>
        </p:spPr>
      </p:sp>
      <p:sp>
        <p:nvSpPr>
          <p:cNvPr id="10" name="Shape 8"/>
          <p:cNvSpPr/>
          <p:nvPr/>
        </p:nvSpPr>
        <p:spPr>
          <a:xfrm>
            <a:off x="4165092" y="2286000"/>
            <a:ext cx="822960" cy="822960"/>
          </a:xfrm>
          <a:prstGeom prst="ellipse">
            <a:avLst/>
          </a:prstGeom>
          <a:solidFill>
            <a:srgbClr val="3D2960"/>
          </a:solidFill>
          <a:ln/>
        </p:spPr>
      </p:sp>
      <p:sp>
        <p:nvSpPr>
          <p:cNvPr id="11" name="Text 9"/>
          <p:cNvSpPr/>
          <p:nvPr/>
        </p:nvSpPr>
        <p:spPr>
          <a:xfrm>
            <a:off x="4165092" y="226771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🌴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483864" y="3291840"/>
            <a:ext cx="21854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有給休暇の管理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20440" y="3931920"/>
            <a:ext cx="21122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残日数の確認・使用申請をアプリ内で完結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89904" y="1965960"/>
            <a:ext cx="2514600" cy="3246120"/>
          </a:xfrm>
          <a:prstGeom prst="roundRect">
            <a:avLst>
              <a:gd name="adj" fmla="val 4364"/>
            </a:avLst>
          </a:prstGeom>
          <a:solidFill>
            <a:srgbClr val="EFEAFA"/>
          </a:solidFill>
          <a:ln/>
        </p:spPr>
      </p:sp>
      <p:sp>
        <p:nvSpPr>
          <p:cNvPr id="15" name="Shape 13"/>
          <p:cNvSpPr/>
          <p:nvPr/>
        </p:nvSpPr>
        <p:spPr>
          <a:xfrm>
            <a:off x="6935724" y="2286000"/>
            <a:ext cx="822960" cy="822960"/>
          </a:xfrm>
          <a:prstGeom prst="ellipse">
            <a:avLst/>
          </a:prstGeom>
          <a:solidFill>
            <a:srgbClr val="3D2960"/>
          </a:solidFill>
          <a:ln/>
        </p:spPr>
      </p:sp>
      <p:sp>
        <p:nvSpPr>
          <p:cNvPr id="16" name="Text 14"/>
          <p:cNvSpPr/>
          <p:nvPr/>
        </p:nvSpPr>
        <p:spPr>
          <a:xfrm>
            <a:off x="6935724" y="226771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6254496" y="3291840"/>
            <a:ext cx="21854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残業代の見込み計算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91072" y="3931920"/>
            <a:ext cx="21122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対象月の残業時間を入れると見込み額を自動計算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0536" y="1965960"/>
            <a:ext cx="2514600" cy="3246120"/>
          </a:xfrm>
          <a:prstGeom prst="roundRect">
            <a:avLst>
              <a:gd name="adj" fmla="val 4364"/>
            </a:avLst>
          </a:prstGeom>
          <a:solidFill>
            <a:srgbClr val="EFEAFA"/>
          </a:solidFill>
          <a:ln/>
        </p:spPr>
      </p:sp>
      <p:sp>
        <p:nvSpPr>
          <p:cNvPr id="20" name="Shape 18"/>
          <p:cNvSpPr/>
          <p:nvPr/>
        </p:nvSpPr>
        <p:spPr>
          <a:xfrm>
            <a:off x="9706356" y="2286000"/>
            <a:ext cx="822960" cy="822960"/>
          </a:xfrm>
          <a:prstGeom prst="ellipse">
            <a:avLst/>
          </a:prstGeom>
          <a:solidFill>
            <a:srgbClr val="3D2960"/>
          </a:solidFill>
          <a:ln/>
        </p:spPr>
      </p:sp>
      <p:sp>
        <p:nvSpPr>
          <p:cNvPr id="21" name="Text 19"/>
          <p:cNvSpPr/>
          <p:nvPr/>
        </p:nvSpPr>
        <p:spPr>
          <a:xfrm>
            <a:off x="9706356" y="226771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9025128" y="3291840"/>
            <a:ext cx="21854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お知らせ通知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61704" y="3931920"/>
            <a:ext cx="211226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会社からの連絡事項を見逃さず確認できる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5532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社員ID・パスワードでログインするだけの、シンプルな社内アプリです。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29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ログイン方法（全員共通）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822960" cy="1234440"/>
          </a:xfrm>
          <a:prstGeom prst="roundRect">
            <a:avLst>
              <a:gd name="adj" fmla="val 11111"/>
            </a:avLst>
          </a:prstGeom>
          <a:solidFill>
            <a:srgbClr val="3D29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11680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508760" y="2011680"/>
            <a:ext cx="9418320" cy="1234440"/>
          </a:xfrm>
          <a:prstGeom prst="roundRect">
            <a:avLst>
              <a:gd name="adj" fmla="val 7407"/>
            </a:avLst>
          </a:prstGeom>
          <a:solidFill>
            <a:srgbClr val="EFEAFA"/>
          </a:solidFill>
          <a:ln/>
        </p:spPr>
      </p:sp>
      <p:sp>
        <p:nvSpPr>
          <p:cNvPr id="7" name="Text 5"/>
          <p:cNvSpPr/>
          <p:nvPr/>
        </p:nvSpPr>
        <p:spPr>
          <a:xfrm>
            <a:off x="1783080" y="2121408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社員IDとパスワードを入力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56032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配布された社員ID・パスワードを入力します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383280"/>
            <a:ext cx="822960" cy="1234440"/>
          </a:xfrm>
          <a:prstGeom prst="roundRect">
            <a:avLst>
              <a:gd name="adj" fmla="val 11111"/>
            </a:avLst>
          </a:prstGeom>
          <a:solidFill>
            <a:srgbClr val="3D296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383280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508760" y="3383280"/>
            <a:ext cx="9418320" cy="1234440"/>
          </a:xfrm>
          <a:prstGeom prst="roundRect">
            <a:avLst>
              <a:gd name="adj" fmla="val 7407"/>
            </a:avLst>
          </a:prstGeom>
          <a:solidFill>
            <a:srgbClr val="EFEAFA"/>
          </a:solidFill>
          <a:ln/>
        </p:spPr>
      </p:sp>
      <p:sp>
        <p:nvSpPr>
          <p:cNvPr id="12" name="Text 10"/>
          <p:cNvSpPr/>
          <p:nvPr/>
        </p:nvSpPr>
        <p:spPr>
          <a:xfrm>
            <a:off x="1783080" y="3493008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「ログイン」を押す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93192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自分専用のフォルダの明細・有給情報が表示されます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822960" cy="1234440"/>
          </a:xfrm>
          <a:prstGeom prst="roundRect">
            <a:avLst>
              <a:gd name="adj" fmla="val 11111"/>
            </a:avLst>
          </a:prstGeom>
          <a:solidFill>
            <a:srgbClr val="3D2960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754880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1508760" y="4754880"/>
            <a:ext cx="9418320" cy="1234440"/>
          </a:xfrm>
          <a:prstGeom prst="roundRect">
            <a:avLst>
              <a:gd name="adj" fmla="val 7407"/>
            </a:avLst>
          </a:prstGeom>
          <a:solidFill>
            <a:srgbClr val="EFEAFA"/>
          </a:solidFill>
          <a:ln/>
        </p:spPr>
      </p:sp>
      <p:sp>
        <p:nvSpPr>
          <p:cNvPr id="17" name="Text 15"/>
          <p:cNvSpPr/>
          <p:nvPr/>
        </p:nvSpPr>
        <p:spPr>
          <a:xfrm>
            <a:off x="1783080" y="4864608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IDやパスワードを忘れたら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303520"/>
            <a:ext cx="8869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「ID・パスワードを忘れた場合」から、苗字・名前・生年月日で本人確認できます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29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一般ユーザー機能① 明細・給与情報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12080" cy="3977640"/>
          </a:xfrm>
          <a:prstGeom prst="roundRect">
            <a:avLst>
              <a:gd name="adj" fmla="val 2759"/>
            </a:avLst>
          </a:prstGeom>
          <a:solidFill>
            <a:srgbClr val="EFEA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明細タブ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6177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直近3か月の明細を自動表示（賞与も含む）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「すべての明細を表示」で過去分もまとめて確認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PDFをタップすると明細画面をそのまま閲覧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紛失中の月は赤色、実績未登録は金色で表示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35040" y="1965960"/>
            <a:ext cx="5577840" cy="3977640"/>
          </a:xfrm>
          <a:prstGeom prst="roundRect">
            <a:avLst>
              <a:gd name="adj" fmla="val 2759"/>
            </a:avLst>
          </a:prstGeom>
          <a:solidFill>
            <a:srgbClr val="EFEAFA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21945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給与タブ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2743200"/>
            <a:ext cx="50749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次回給料日・締め日・賞与日を自動計算して表示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給与推移グラフ（基本給・残業代・賞与の内訳）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今年の累計支給額・累計差引支給額を確認可能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対象月の残業時間を入れると、残業代の見込みを自動計算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29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一般ユーザー機能② 有給・残業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12080" cy="3977640"/>
          </a:xfrm>
          <a:prstGeom prst="roundRect">
            <a:avLst>
              <a:gd name="adj" fmla="val 2759"/>
            </a:avLst>
          </a:prstGeom>
          <a:solidFill>
            <a:srgbClr val="EFEA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有給タブ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6177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残日数・次回付与日・失効予告を確認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使用申請は日付・日数・理由を入力するだけ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履歴の削除も可能（削除は管理者に自動通知されます）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付与操作は管理者のみ。一般ユーザーは使用のみ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35040" y="1965960"/>
            <a:ext cx="5577840" cy="3977640"/>
          </a:xfrm>
          <a:prstGeom prst="roundRect">
            <a:avLst>
              <a:gd name="adj" fmla="val 2759"/>
            </a:avLst>
          </a:prstGeom>
          <a:solidFill>
            <a:srgbClr val="EFEAFA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21945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残業時間の記録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2743200"/>
            <a:ext cx="50749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給与タブのサマリーで今月の残業時間を色分け表示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会社が設定した警告基準（初期値45時間）を超えると赤字表示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先月の残業時間も小さく併記されるので推移が分かる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ALL EMPLOYEES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29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一般ユーザー機能③ お知らせ・設定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37560" cy="3566160"/>
          </a:xfrm>
          <a:prstGeom prst="roundRect">
            <a:avLst>
              <a:gd name="adj" fmla="val 3288"/>
            </a:avLst>
          </a:prstGeom>
          <a:solidFill>
            <a:srgbClr val="EFEAFA"/>
          </a:solidFill>
          <a:ln/>
        </p:spPr>
      </p:sp>
      <p:sp>
        <p:nvSpPr>
          <p:cNvPr id="5" name="Shape 3"/>
          <p:cNvSpPr/>
          <p:nvPr/>
        </p:nvSpPr>
        <p:spPr>
          <a:xfrm>
            <a:off x="1805940" y="2377440"/>
            <a:ext cx="822960" cy="822960"/>
          </a:xfrm>
          <a:prstGeom prst="ellipse">
            <a:avLst/>
          </a:prstGeom>
          <a:solidFill>
            <a:srgbClr val="3D2960"/>
          </a:solidFill>
          <a:ln/>
        </p:spPr>
      </p:sp>
      <p:sp>
        <p:nvSpPr>
          <p:cNvPr id="6" name="Text 4"/>
          <p:cNvSpPr/>
          <p:nvPr/>
        </p:nvSpPr>
        <p:spPr>
          <a:xfrm>
            <a:off x="1805940" y="235915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📬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お知らせ通知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3931920"/>
            <a:ext cx="28254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重要度に応じて色分けされたニュースが上部に表示。タップで内容を確認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60520" y="2011680"/>
            <a:ext cx="3337560" cy="3566160"/>
          </a:xfrm>
          <a:prstGeom prst="roundRect">
            <a:avLst>
              <a:gd name="adj" fmla="val 3288"/>
            </a:avLst>
          </a:prstGeom>
          <a:solidFill>
            <a:srgbClr val="EFEAFA"/>
          </a:solidFill>
          <a:ln/>
        </p:spPr>
      </p:sp>
      <p:sp>
        <p:nvSpPr>
          <p:cNvPr id="10" name="Shape 8"/>
          <p:cNvSpPr/>
          <p:nvPr/>
        </p:nvSpPr>
        <p:spPr>
          <a:xfrm>
            <a:off x="5417820" y="2377440"/>
            <a:ext cx="822960" cy="822960"/>
          </a:xfrm>
          <a:prstGeom prst="ellipse">
            <a:avLst/>
          </a:prstGeom>
          <a:solidFill>
            <a:srgbClr val="3D2960"/>
          </a:solidFill>
          <a:ln/>
        </p:spPr>
      </p:sp>
      <p:sp>
        <p:nvSpPr>
          <p:cNvPr id="11" name="Text 9"/>
          <p:cNvSpPr/>
          <p:nvPr/>
        </p:nvSpPr>
        <p:spPr>
          <a:xfrm>
            <a:off x="5417820" y="235915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✉️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4343400" y="33832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お問い合わせ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16552" y="3931920"/>
            <a:ext cx="28254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給与や有給の間違い、その他の問い合わせをメールで送信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0" y="2011680"/>
            <a:ext cx="3337560" cy="3566160"/>
          </a:xfrm>
          <a:prstGeom prst="roundRect">
            <a:avLst>
              <a:gd name="adj" fmla="val 3288"/>
            </a:avLst>
          </a:prstGeom>
          <a:solidFill>
            <a:srgbClr val="EFEAFA"/>
          </a:solidFill>
          <a:ln/>
        </p:spPr>
      </p:sp>
      <p:sp>
        <p:nvSpPr>
          <p:cNvPr id="15" name="Shape 13"/>
          <p:cNvSpPr/>
          <p:nvPr/>
        </p:nvSpPr>
        <p:spPr>
          <a:xfrm>
            <a:off x="9029700" y="2377440"/>
            <a:ext cx="822960" cy="822960"/>
          </a:xfrm>
          <a:prstGeom prst="ellipse">
            <a:avLst/>
          </a:prstGeom>
          <a:solidFill>
            <a:srgbClr val="3D2960"/>
          </a:solidFill>
          <a:ln/>
        </p:spPr>
      </p:sp>
      <p:sp>
        <p:nvSpPr>
          <p:cNvPr id="16" name="Text 14"/>
          <p:cNvSpPr/>
          <p:nvPr/>
        </p:nvSpPr>
        <p:spPr>
          <a:xfrm>
            <a:off x="9029700" y="2359152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7955280" y="338328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パスワード変更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28432" y="3931920"/>
            <a:ext cx="2825496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ログイン後、設定タブからいつでも変更可能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5806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ログイン画面からも「ログインできない」等の問い合わせが可能です。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ADMINISTRATORS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29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管理者機能① ユーザー管理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EFEAF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185416"/>
            <a:ext cx="1554480" cy="502920"/>
          </a:xfrm>
          <a:prstGeom prst="roundRect">
            <a:avLst>
              <a:gd name="adj" fmla="val 50909"/>
            </a:avLst>
          </a:prstGeom>
          <a:solidFill>
            <a:srgbClr val="3D2960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85416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06040" y="1965960"/>
            <a:ext cx="8275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社員ID、または苗字（ひらがな）で検索。同姓の場合は候補一覧から選択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06324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EFEAFA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" y="3282696"/>
            <a:ext cx="1554480" cy="502920"/>
          </a:xfrm>
          <a:prstGeom prst="roundRect">
            <a:avLst>
              <a:gd name="adj" fmla="val 50909"/>
            </a:avLst>
          </a:prstGeom>
          <a:solidFill>
            <a:srgbClr val="3D296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282696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編集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06040" y="3063240"/>
            <a:ext cx="8275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苗字・名前・生年月日・権限・有給残日数（年ごと）を修正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16052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EFEAF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7240" y="4379976"/>
            <a:ext cx="1554480" cy="502920"/>
          </a:xfrm>
          <a:prstGeom prst="roundRect">
            <a:avLst>
              <a:gd name="adj" fmla="val 50909"/>
            </a:avLst>
          </a:prstGeom>
          <a:solidFill>
            <a:srgbClr val="3D296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4379976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新規追加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606040" y="4160520"/>
            <a:ext cx="8275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ID・パスワード・氏名等を入力するだけで、フォルダとドキュメントを自動作成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25780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EFEAF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5477256"/>
            <a:ext cx="1554480" cy="502920"/>
          </a:xfrm>
          <a:prstGeom prst="roundRect">
            <a:avLst>
              <a:gd name="adj" fmla="val 50909"/>
            </a:avLst>
          </a:prstGeom>
          <a:solidFill>
            <a:srgbClr val="3D296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477256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削除・復元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606040" y="5257800"/>
            <a:ext cx="8275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確認モーダルを経て削除予定に設定。保存期間中はいつでも取り消し可能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ADMINISTRATORS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29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管理者機能② お知らせ・操作ログ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12080" cy="3977640"/>
          </a:xfrm>
          <a:prstGeom prst="roundRect">
            <a:avLst>
              <a:gd name="adj" fmla="val 2759"/>
            </a:avLst>
          </a:prstGeom>
          <a:solidFill>
            <a:srgbClr val="EFEAF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1945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ニュース送信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46177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タイトル・内容・対象（全員／管理者のみ）を指定して送信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重要度アイコンを選択（💧通常／🟡メンテナンス／🔴全員に関わる変更）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既読状況は各自の設定に保存され、端末を変えても引き継がれる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35040" y="1965960"/>
            <a:ext cx="5577840" cy="3977640"/>
          </a:xfrm>
          <a:prstGeom prst="roundRect">
            <a:avLst>
              <a:gd name="adj" fmla="val 2759"/>
            </a:avLst>
          </a:prstGeom>
          <a:solidFill>
            <a:srgbClr val="EFEAFA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21945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操作ログ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355080" y="2743200"/>
            <a:ext cx="507492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誰が・いつ・何をしたか（ログイン、有給操作、設定変更等）を記録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「最新のログを読み込む」でいつでも確認可能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クリップボードにコピーして共有・保存できる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ADMINISTRATORS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29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管理者機能③ システム設定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EFEAF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8483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支払い・有給ルール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542032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給料日・締め日・賞与日・残業警告基準・次回有給付与日を全社共通で設定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0" y="192024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EFEAFA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0" y="208483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特定月の給料日修正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217920" y="2542032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正月休み等、特定の月だけ給料日を繰り上げる一時的な設定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74904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EFEAFA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1363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問い合わせ受信先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4370832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お問い合わせメールの宛先・宛名を変更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3749040"/>
            <a:ext cx="5120640" cy="1600200"/>
          </a:xfrm>
          <a:prstGeom prst="roundRect">
            <a:avLst>
              <a:gd name="adj" fmla="val 5714"/>
            </a:avLst>
          </a:prstGeom>
          <a:solidFill>
            <a:srgbClr val="EFEAFA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3913632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29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データ保存期間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17920" y="4370832"/>
            <a:ext cx="4572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退職者データの法定保存期間（日数）を設定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NOTE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29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注意点（一般ユーザー向け）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9962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2011680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パスワードは他人と共有しない、他のサービスと使い回さないでください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9962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2971800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有給の使用履歴を削除すると、管理者に自動で通知されます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9962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34440" y="3931920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退職・異動等でアカウントが削除されると、ログインできなくなります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9962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937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4440" y="4892040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残業時間の警告表示はあくまで目安です。実際の申請ルールは会社の規定に従ってください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NOTE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D29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注意点（管理者向け）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34440" y="2011680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GASのURL・共通フォルダIDの変更は、全員に影響するため変更前に必ずダブルチェック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34440" y="2971800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ユーザー削除は取り消しできますが、完全削除後は元に戻せません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234440" y="3931920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コードを変更した場合、「新バージョンとしてデプロイ」を忘れると反映されません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9377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937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234440" y="4892040"/>
            <a:ext cx="9875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19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退職者データの保存期間は、法令に基づいた正しい日数を社労士等にご確認ください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71A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71A40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3D2960">
              <a:alpha val="6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C9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アプリ内の「お問い合わせ」から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いつでもご連絡ください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4343400"/>
            <a:ext cx="2011680" cy="0"/>
          </a:xfrm>
          <a:prstGeom prst="line">
            <a:avLst/>
          </a:prstGeom>
          <a:noFill/>
          <a:ln w="25400">
            <a:solidFill>
              <a:srgbClr val="C9962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5262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CD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給与・有給の間違い、ログインできない場合、その他の質問など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478"/>
                </a:solidFill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2026-07-09T23:28:00Z</dcterms:created>
  <dcterms:modified xsi:type="dcterms:W3CDTF">2026-07-09T23:28:00Z</dcterms:modified>
</cp:coreProperties>
</file>