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26"/>
    <p:sldId id="276" r:id="rId27"/>
    <p:sldId id="277" r:id="rId28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8" r:id="rId29"/>
    <p:sldId id="267" r:id="rId13"/>
    <p:sldId id="268" r:id="rId14"/>
    <p:sldId id="269" r:id="rId15"/>
    <p:sldId id="270" r:id="rId16"/>
    <p:sldId id="271" r:id="rId17"/>
    <p:sldId id="279" r:id="rId30"/>
    <p:sldId id="280" r:id="rId31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ckup-url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ckup-install-android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ckup-install-ios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ckup-transport-user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ckup-transport-admin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ckup-holidays-admin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給与台帳アプリ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962C"/>
                </a:solidFill>
              </a:rPr>
              <a:t>機能ガイド・使い方と注意点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478"/>
                </a:solidFill>
              </a:rPr>
              <a:t>一般ユーザー編／管理者編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478"/>
                </a:solidFill>
              </a:rPr>
              <a:t>2026年7月版（スクリーンショット付き改訂版）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98568" y="3127248"/>
            <a:ext cx="2194560" cy="0"/>
          </a:xfrm>
          <a:prstGeom prst="line">
            <a:avLst/>
          </a:prstGeom>
          <a:noFill/>
          <a:ln w="12700">
            <a:solidFill>
              <a:srgbClr val="C9962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このアプリでできること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3D296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📄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645920" y="190195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給与明細の閲覧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78"/>
                </a:solidFill>
              </a:rPr>
              <a:t>毎月の明細PDFをスマホ・PCからいつでも確認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3D2960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🌴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223760" y="190195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有給休暇の管理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223760" y="230428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78"/>
                </a:solidFill>
              </a:rPr>
              <a:t>残日数の確認・単日/複数日の使用申請をアプリ内で完結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3D296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520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⏱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645920" y="350215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残業代の見込み計算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90448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78"/>
                </a:solidFill>
              </a:rPr>
              <a:t>対象月の残業時間を入れると見込み額を自動計算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33756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3D2960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3520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📢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223760" y="350215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お知らせ通知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390448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78"/>
                </a:solidFill>
              </a:rPr>
              <a:t>会社からの連絡事項や、アプリ更新のお知らせも自動で表示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937760"/>
            <a:ext cx="10515600" cy="1200000"/>
          </a:xfrm>
          <a:prstGeom prst="roundRect">
            <a:avLst>
              <a:gd name="adj" fmla="val 8000"/>
            </a:avLst>
          </a:prstGeom>
          <a:solidFill>
            <a:srgbClr val="3D2960"/>
          </a:solidFill>
          <a:ln/>
        </p:spPr>
      </p:sp>
      <p:sp>
        <p:nvSpPr>
          <p:cNvPr id="22" name="Text 19"/>
          <p:cNvSpPr/>
          <p:nvPr/>
        </p:nvSpPr>
        <p:spPr>
          <a:xfrm>
            <a:off x="868680" y="5120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🚃</a:t>
            </a:r>
            <a:endParaRPr lang="en-US" sz="3200" dirty="0"/>
          </a:p>
        </p:txBody>
      </p:sp>
      <p:sp>
        <p:nvSpPr>
          <p:cNvPr id="23" name="Text 20"/>
          <p:cNvSpPr/>
          <p:nvPr/>
        </p:nvSpPr>
        <p:spPr>
          <a:xfrm>
            <a:off x="1645920" y="510235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交通費申請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645920" y="550468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78"/>
                </a:solidFill>
              </a:rPr>
              <a:t>日付・区間・金額を入力するだけで申請でき、承認状況もアプリ内で確認できます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LOGIN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ログイン方法（全員共通）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01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2257057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① 配布された社員IDとパスワードを入力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② 「ログイン」を押すと、自分専用の明細・有給情報が表示されます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③ ID・パスワードを忘れた場合は、画面下部から苗字・名前・生年月日で本人確認できます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明細タブ：給与明細の閲覧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02_meis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2257057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直近3か月の明細を自動表示（賞与も含む）。「すべての明細を表示」で過去分もまとめて確認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PDFをタップすると明細画面をそのまま閲覧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紛失中の月は赤色の「紛失」タグ、実績が未登録の月は金色の「未登録」タグで表示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サマリーには次回給料日・締め日・賞与日・有給残日数・次回有給付与日が自動表示されます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給与タブ：推移グラフと残業代計算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03_kyuyo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2257057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給与推移グラフで基本給・残業代・賞与の内訳を確認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今年の累計支給額・累計差引支給額を確認可能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対象月の残業時間を入力すると、残業代の見込みを自動計算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会社が設定した警告基準（初期値45時間）を超えると赤字で表示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有給タブ：残高確認と単日申請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05_yuky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2257057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この画面からは単日の使用申請のみ行えます（日数入力は不要）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残日数が上部に常に表示され、年度ごとの内訳も確認できます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残日数が足りない場合は「有給残日数が足りません」と表示され、申請できません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「付与」操作はこの画面からは行えません（管理者がユーザー管理から訂正）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複数日をまとめて申請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2052562"/>
            <a:ext cx="4123944" cy="4170196"/>
          </a:xfrm>
          <a:prstGeom prst="roundRect">
            <a:avLst>
              <a:gd name="adj" fmla="val 2217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06_yukyu_bulk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25714"/>
            <a:ext cx="3977640" cy="40238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「複数日をまとめて申請する」ボタンから、専用モーダルを開きます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開始日・終了日を入力すると「〇日分」が自動表示されます（土日を除く／入力は不可）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モーダルを開いている間も、現在の残日数が常に表示されます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残日数を超える場合は申請ボタンが無効になり、送信できません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申請後の流れ（承認待ち）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3187087"/>
            <a:ext cx="4123944" cy="1901145"/>
          </a:xfrm>
          <a:prstGeom prst="roundRect">
            <a:avLst>
              <a:gd name="adj" fmla="val 4810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08_yukyu_success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60239"/>
            <a:ext cx="3977640" cy="175484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単日・複数日どちらの申請でも「申請しました」という完了モーダルが表示されます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申請内容は管理者にニュースとして自動通知され、承認（許可／不許可）をもって確定します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不許可の場合は残日数が自動的に元に戻ります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履歴の削除も同様に、管理者への申請制になっています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お知らせの確認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3102474"/>
            <a:ext cx="4123944" cy="2070372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09_news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175626"/>
            <a:ext cx="3977640" cy="19240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重要度に応じて色分けされたニュースが一覧表示されます（🔴重要／🟡メンテナンス／💧通常）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タップすると詳細を確認でき、既読・未読を管理できます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アプリ本体やサーバー側が更新されると、システムからのお知らせが自動投稿されます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「お知らせ履歴（すべて）」から過去のお知らせもまとめて確認可能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お知らせ詳細画面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07429"/>
            <a:ext cx="4123944" cy="4660463"/>
          </a:xfrm>
          <a:prstGeom prst="roundRect">
            <a:avLst>
              <a:gd name="adj" fmla="val 2217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10_news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80581"/>
            <a:ext cx="3977640" cy="45141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既読／未読の状態は「お知らせ」タイトルの隣に表示されます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半透明の背景部分をタップ（クリック）すると、そのまま閉じられます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既読済みのお知らせは、右上に×ボタンが表示されます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（管理者のみ）本文の色付き部分の右上にある鉛筆アイコンから、その場で編集できます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設定・パスワード変更・お問い合わせ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11_settings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2257057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ログイン後、設定タブからいつでもパスワードを変更可能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給与や有給の間違い、その他の問い合わせをメールで送信できます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ログイン画面からも「ログインできない」等の問い合わせが可能です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管理者機能：ユーザー管理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3080092"/>
            <a:ext cx="4123944" cy="2115136"/>
          </a:xfrm>
          <a:prstGeom prst="roundRect">
            <a:avLst>
              <a:gd name="adj" fmla="val 4323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13_admin_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153244"/>
            <a:ext cx="3977640" cy="19688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社員ID、または苗字（ひらがな）で検索。同姓の場合は候補一覧から選択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苗字・名前・生年月日・権限・有給残日数（年ごと）・次回有給付与日を修正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新規追加：ID・パスワード・氏名等を入力するだけで、フォルダとドキュメントを自動作成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削除・復元：確認モーダルを経て削除予定に設定。保存期間中はいつでも取り消し可能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管理者機能：お知らせの送信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80922"/>
            <a:ext cx="4123944" cy="4913476"/>
          </a:xfrm>
          <a:prstGeom prst="roundRect">
            <a:avLst>
              <a:gd name="adj" fmla="val 2217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14_admin_news_p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54074"/>
            <a:ext cx="3977640" cy="47671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タイトル・内容・対象（全員／管理者のみ）を指定して送信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重要度アイコンを選択（💧通常／🟡メンテナンス／🔴全員に関わる変更）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重要ニュース以外は削除すると復元できません（重要ニュースのみ1年間の復元期間あり）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既読状況は各自の設定に保存され、端末を変えても引き継がれます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管理者機能：操作ログの確認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3140056"/>
            <a:ext cx="4123944" cy="1995207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15_admin_l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13208"/>
            <a:ext cx="3977640" cy="18489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誰が・いつ・何をしたか（ログイン、有給操作、設定変更等）を記録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「最新のログを読み込む」でいつでも確認可能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読み込み後は「閉じる」ボタンに切り替わり、押すと元の状態に戻ります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クリップボードにコピーして共有・保存できます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管理者機能：支払い・有給ルールの設定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1747482" cy="5038344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16_admin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1601178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給料日・締め日・賞与日・残業警告基準・次回有給付与日を全社共通で設定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ここで変更すると、次回ログイン時から全員に反映されます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土日にあたる場合は自動で前営業日に繰り上げます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特定月だけ給料日を繰り上げる一時的な設定も別途可能です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管理者機能：有給申請の承認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07429"/>
            <a:ext cx="4123944" cy="4660463"/>
          </a:xfrm>
          <a:prstGeom prst="roundRect">
            <a:avLst>
              <a:gd name="adj" fmla="val 2217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 descr="C:\Users\a_aoyama\AppData\Local\Temp\claude\C--Users-a-aoyama\efb2a98c-8814-4bea-ab9a-535be9a2813a\scratchpad\docbuild\shots\17_admin_leave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80581"/>
            <a:ext cx="3977640" cy="45141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社員からの有給の使用・削除申請は、ニュースとして管理者に自動通知されます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申請者・対象日・日数・理由を確認し、「許可」「不許可」をその場で選択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不許可の場合は理由の入力を求められ、残日数は自動的に元に戻ります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Driveへの書き込み中は読み込みアニメーションが表示されます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PLEASE NOTE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注意点（一般ユーザー向け）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7373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パスワードは他人と共有しない、他のサービスと使い回さないでください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974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有給の使用・削除は申請制です。管理者の承認をもって確定します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661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退職・異動等でアカウントが削除されると、ログインできなくなります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5262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4805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残業時間の警告表示はあくまで目安です。実際の申請ルールは会社の規定に従ってください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PLEASE NOTE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注意点（管理者向け）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7373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GASのURL・共通フォルダIDの変更は、全員に影響するため変更前に必ずダブルチェック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974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ユーザー削除は取り消しできますが、完全削除後は元に戻せません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661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コードを変更した場合、「新バージョンとしてデプロイ」を忘れると反映されません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5262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4805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GAS・アプリを更新した際は、バージョン表記を書き換えると更新お知らせが自動投稿されます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44068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440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3949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退職者データの保存期間は、法令に基づいた正しい日数を社労士等にご確認ください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1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困ったときは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62C"/>
                </a:solidFill>
              </a:rPr>
              <a:t>アプリ内の「お問い合わせ」から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62C"/>
                </a:solidFill>
              </a:rPr>
              <a:t>いつでもご連絡ください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478"/>
                </a:solidFill>
              </a:rPr>
              <a:t>給与・有給の間違い、ログインできない場合、その他の質問など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アプリへのアクセス方法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93458"/>
            <a:ext cx="2257057" cy="2488405"/>
          </a:xfrm>
          <a:prstGeom prst="rect">
            <a:avLst/>
          </a:prstGeom>
        </p:spPr>
      </p:pic>
      <p:sp>
        <p:nvSpPr>
          <p:cNvPr id="7" name="Text 7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以下のURLをブラウザで開いてください（お気に入り・ブックマーク登録がおすすめです）</a:t>
            </a:r>
            <a:endParaRPr lang="en-US" sz="1300" dirty="0"/>
          </a:p>
        </p:txBody>
      </p:sp>
      <p:sp>
        <p:nvSpPr>
          <p:cNvPr id="8" name="Text 8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https://kawabataaoi.github.io/TestKyuuyomeisai/給与明細アプリ.html</a:t>
            </a:r>
            <a:endParaRPr lang="en-US" sz="1300" dirty="0"/>
          </a:p>
        </p:txBody>
      </p:sp>
      <p:sp>
        <p:nvSpPr>
          <p:cNvPr id="9" name="Text 9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スマホ・PCどちらからでも同じURLでアクセスできます</a:t>
            </a:r>
            <a:endParaRPr lang="en-US" sz="1300" dirty="0"/>
          </a:p>
        </p:txBody>
      </p:sp>
      <p:sp>
        <p:nvSpPr>
          <p:cNvPr id="10" name="Text 10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初回はログイン画面が表示されます。社員IDとパスワードは別途配布されたものをご使用ください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インストール方法（Android・PCのChrome/Edge）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764843"/>
            <a:ext cx="2257057" cy="745635"/>
          </a:xfrm>
          <a:prstGeom prst="rect">
            <a:avLst/>
          </a:prstGeom>
        </p:spPr>
      </p:pic>
      <p:sp>
        <p:nvSpPr>
          <p:cNvPr id="7" name="Text 7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上記URLを開くと、条件を満たせば「設定」タブに「アプリをインストール」ボタンが表示されます</a:t>
            </a:r>
            <a:endParaRPr lang="en-US" sz="1300" dirty="0"/>
          </a:p>
        </p:txBody>
      </p:sp>
      <p:sp>
        <p:nvSpPr>
          <p:cNvPr id="8" name="Text 8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ボタンを押すと確認画面が出るので、「インストール」を選択してください</a:t>
            </a:r>
            <a:endParaRPr lang="en-US" sz="1300" dirty="0"/>
          </a:p>
        </p:txBody>
      </p:sp>
      <p:sp>
        <p:nvSpPr>
          <p:cNvPr id="9" name="Text 9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インストールすると、ホーム画面やデスクトップにアイコンが追加され、アプリのようにすぐ開けます</a:t>
            </a:r>
            <a:endParaRPr lang="en-US" sz="1300" dirty="0"/>
          </a:p>
        </p:txBody>
      </p:sp>
      <p:sp>
        <p:nvSpPr>
          <p:cNvPr id="10" name="Text 10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すでにインストール済みの場合は、このボタンは表示されません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インストール方法（iPhone・iPad）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11182"/>
            <a:ext cx="2257057" cy="1052957"/>
          </a:xfrm>
          <a:prstGeom prst="rect">
            <a:avLst/>
          </a:prstGeom>
        </p:spPr>
      </p:pic>
      <p:sp>
        <p:nvSpPr>
          <p:cNvPr id="7" name="Text 7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!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iOSは自動インストールに対応していないため、Safariで以下の手順を行います</a:t>
            </a:r>
            <a:endParaRPr lang="en-US" sz="1300" dirty="0"/>
          </a:p>
        </p:txBody>
      </p:sp>
      <p:sp>
        <p:nvSpPr>
          <p:cNvPr id="8" name="Text 8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①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画面下（または上）の共有アイコン「□に↑」をタップ</a:t>
            </a:r>
            <a:endParaRPr lang="en-US" sz="1300" dirty="0"/>
          </a:p>
        </p:txBody>
      </p:sp>
      <p:sp>
        <p:nvSpPr>
          <p:cNvPr id="9" name="Text 9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②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メニューから「ホーム画面に追加」をタップ</a:t>
            </a:r>
            <a:endParaRPr lang="en-US" sz="1300" dirty="0"/>
          </a:p>
        </p:txBody>
      </p:sp>
      <p:sp>
        <p:nvSpPr>
          <p:cNvPr id="10" name="Text 10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③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右上の「追加」をタップすると完了です</a:t>
            </a:r>
            <a:endParaRPr lang="en-US" sz="1300" dirty="0"/>
          </a:p>
        </p:txBody>
      </p:sp>
      <p:sp>
        <p:nvSpPr>
          <p:cNvPr id="11" name="Text 11"/>
          <p:cNvSpPr/>
          <p:nvPr/>
        </p:nvSpPr>
        <p:spPr>
          <a:xfrm>
            <a:off x="5212080" y="525780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※Safari以外のアプリ（Chromeなど）で開いている場合は、一度Safariで開き直してください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交通費タブ：交通費申請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83884"/>
            <a:ext cx="2257057" cy="4307553"/>
          </a:xfrm>
          <a:prstGeom prst="rect">
            <a:avLst/>
          </a:prstGeom>
        </p:spPr>
      </p:pic>
      <p:sp>
        <p:nvSpPr>
          <p:cNvPr id="7" name="Text 7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日付・区間・交通手段・金額を入力し、複数件まとめて申請できます（「＋行を追加」で行を増やせます）</a:t>
            </a:r>
            <a:endParaRPr lang="en-US" sz="1300" dirty="0"/>
          </a:p>
        </p:txBody>
      </p:sp>
      <p:sp>
        <p:nvSpPr>
          <p:cNvPr id="8" name="Text 8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合計金額はリアルタイムで自動計算されます</a:t>
            </a:r>
            <a:endParaRPr lang="en-US" sz="1300" dirty="0"/>
          </a:p>
        </p:txBody>
      </p:sp>
      <p:sp>
        <p:nvSpPr>
          <p:cNvPr id="9" name="Text 9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「申請する」を押すと管理者に通知され、承認・却下（却下時は理由付き）をもって確定します</a:t>
            </a:r>
            <a:endParaRPr lang="en-US" sz="1300" dirty="0"/>
          </a:p>
        </p:txBody>
      </p:sp>
      <p:sp>
        <p:nvSpPr>
          <p:cNvPr id="10" name="Text 10"/>
          <p:cNvSpPr/>
          <p:nvPr/>
        </p:nvSpPr>
        <p:spPr>
          <a:xfrm>
            <a:off x="5212080" y="43891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申請状況・過去の履歴は、このタブからいつでも確認できます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管理者機能：交通費申請の承認・修正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67797"/>
            <a:ext cx="2257057" cy="3539726"/>
          </a:xfrm>
          <a:prstGeom prst="rect">
            <a:avLst/>
          </a:prstGeom>
        </p:spPr>
      </p:pic>
      <p:sp>
        <p:nvSpPr>
          <p:cNvPr id="7" name="Text 7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交通費タブに「〇件申請あり」の件数が表示され、開くと一覧の確認・承認/却下ができます</a:t>
            </a:r>
            <a:endParaRPr lang="en-US" sz="1300" dirty="0"/>
          </a:p>
        </p:txBody>
      </p:sp>
      <p:sp>
        <p:nvSpPr>
          <p:cNvPr id="8" name="Text 8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却下時は理由の入力が必須です（例：金額の不一致、日付不良など）。申請者にも通知されます</a:t>
            </a:r>
            <a:endParaRPr lang="en-US" sz="1300" dirty="0"/>
          </a:p>
        </p:txBody>
      </p:sp>
      <p:sp>
        <p:nvSpPr>
          <p:cNvPr id="9" name="Text 9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保守タブのユーザー管理から、過去の判定を後から修正することもできます（理由の入力が必須）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419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管理者機能：特別休暇・有給関連の設定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0"/>
          </a:xfrm>
          <a:prstGeom prst="line">
            <a:avLst/>
          </a:prstGeom>
          <a:noFill/>
          <a:ln w="19050">
            <a:solidFill>
              <a:srgbClr val="3D29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18488"/>
            <a:ext cx="2403361" cy="5038344"/>
          </a:xfrm>
          <a:prstGeom prst="roundRect">
            <a:avLst>
              <a:gd name="adj" fmla="val 3805"/>
            </a:avLst>
          </a:prstGeom>
          <a:solidFill>
            <a:srgbClr val="FFFFFF"/>
          </a:solidFill>
          <a:ln w="12700">
            <a:solidFill>
              <a:srgbClr val="C9962C"/>
            </a:solidFill>
            <a:prstDash val="solid"/>
          </a:ln>
        </p:spPr>
      </p:sp>
      <p:pic>
        <p:nvPicPr>
          <p:cNvPr id="6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68" y="1691640"/>
            <a:ext cx="1824841" cy="4892040"/>
          </a:xfrm>
          <a:prstGeom prst="rect">
            <a:avLst/>
          </a:prstGeom>
        </p:spPr>
      </p:pic>
      <p:sp>
        <p:nvSpPr>
          <p:cNvPr id="7" name="Text 7"/>
          <p:cNvSpPr/>
          <p:nvPr/>
        </p:nvSpPr>
        <p:spPr>
          <a:xfrm>
            <a:off x="5212080" y="17830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お盆・年末年始・ゴールデンウィークなどの特別休暇を、期間と名称を指定して登録できます</a:t>
            </a:r>
            <a:endParaRPr lang="en-US" sz="1300" dirty="0"/>
          </a:p>
        </p:txBody>
      </p:sp>
      <p:sp>
        <p:nvSpPr>
          <p:cNvPr id="8" name="Text 8"/>
          <p:cNvSpPr/>
          <p:nvPr/>
        </p:nvSpPr>
        <p:spPr>
          <a:xfrm>
            <a:off x="521208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有給消化奨励期間（期間）・有給奨励日（個別の日付）も同様に登録できます</a:t>
            </a:r>
            <a:endParaRPr lang="en-US" sz="1300" dirty="0"/>
          </a:p>
        </p:txBody>
      </p:sp>
      <p:sp>
        <p:nvSpPr>
          <p:cNvPr id="9" name="Text 9"/>
          <p:cNvSpPr/>
          <p:nvPr/>
        </p:nvSpPr>
        <p:spPr>
          <a:xfrm>
            <a:off x="5212080" y="35204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962C"/>
                </a:solidFill>
              </a:rPr>
              <a:t>●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登録した内容は、社員のサマリー画面に自動で表示されます（保守タブの「特別休暇・有給関連の設定」から追加・削除）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2026-07-13T12:15:06Z</dcterms:created>
  <dcterms:modified xsi:type="dcterms:W3CDTF">2026-07-13T12:15:06Z</dcterms:modified>
</cp:coreProperties>
</file>