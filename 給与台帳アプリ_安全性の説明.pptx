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1A4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71A40"/>
          </a:solidFill>
          <a:ln/>
        </p:spPr>
      </p:sp>
      <p:sp>
        <p:nvSpPr>
          <p:cNvPr id="3" name="Shape 1"/>
          <p:cNvSpPr/>
          <p:nvPr/>
        </p:nvSpPr>
        <p:spPr>
          <a:xfrm>
            <a:off x="8961120" y="-2011680"/>
            <a:ext cx="5486400" cy="5486400"/>
          </a:xfrm>
          <a:prstGeom prst="ellipse">
            <a:avLst/>
          </a:prstGeom>
          <a:solidFill>
            <a:srgbClr val="3D2960">
              <a:alpha val="60000"/>
            </a:srgbClr>
          </a:solidFill>
          <a:ln/>
        </p:spPr>
      </p:sp>
      <p:sp>
        <p:nvSpPr>
          <p:cNvPr id="4" name="Shape 2"/>
          <p:cNvSpPr/>
          <p:nvPr/>
        </p:nvSpPr>
        <p:spPr>
          <a:xfrm>
            <a:off x="-1828800" y="4114800"/>
            <a:ext cx="4572000" cy="4572000"/>
          </a:xfrm>
          <a:prstGeom prst="ellipse">
            <a:avLst/>
          </a:prstGeom>
          <a:solidFill>
            <a:srgbClr val="C9962C">
              <a:alpha val="18000"/>
            </a:srgbClr>
          </a:solidFill>
          <a:ln/>
        </p:spPr>
      </p:sp>
      <p:sp>
        <p:nvSpPr>
          <p:cNvPr id="5" name="Text 3"/>
          <p:cNvSpPr/>
          <p:nvPr/>
        </p:nvSpPr>
        <p:spPr>
          <a:xfrm>
            <a:off x="822960" y="2331720"/>
            <a:ext cx="9144000" cy="640080"/>
          </a:xfrm>
          <a:prstGeom prst="rect">
            <a:avLst/>
          </a:prstGeom>
          <a:noFill/>
          <a:ln/>
        </p:spPr>
        <p:txBody>
          <a:bodyPr wrap="square" rtlCol="0" anchor="ctr"/>
          <a:lstStyle/>
          <a:p>
            <a:pPr indent="0" marL="0">
              <a:buNone/>
            </a:pPr>
            <a:r>
              <a:rPr lang="en-US" sz="2200" b="1" spc="300" kern="0" dirty="0">
                <a:solidFill>
                  <a:srgbClr val="C9B8E8"/>
                </a:solidFill>
                <a:latin typeface="Calibri" pitchFamily="34" charset="0"/>
                <a:ea typeface="Calibri" pitchFamily="34" charset="-122"/>
                <a:cs typeface="Calibri" pitchFamily="34" charset="-120"/>
              </a:rPr>
              <a:t>給与台帳アプリ</a:t>
            </a:r>
            <a:endParaRPr lang="en-US" sz="2200" dirty="0"/>
          </a:p>
        </p:txBody>
      </p:sp>
      <p:sp>
        <p:nvSpPr>
          <p:cNvPr id="6" name="Text 4"/>
          <p:cNvSpPr/>
          <p:nvPr/>
        </p:nvSpPr>
        <p:spPr>
          <a:xfrm>
            <a:off x="777240" y="2788920"/>
            <a:ext cx="10058400"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安全性についての説明</a:t>
            </a:r>
            <a:endParaRPr lang="en-US" sz="4600" dirty="0"/>
          </a:p>
        </p:txBody>
      </p:sp>
      <p:sp>
        <p:nvSpPr>
          <p:cNvPr id="7" name="Text 5"/>
          <p:cNvSpPr/>
          <p:nvPr/>
        </p:nvSpPr>
        <p:spPr>
          <a:xfrm>
            <a:off x="822960" y="3977640"/>
            <a:ext cx="9601200" cy="457200"/>
          </a:xfrm>
          <a:prstGeom prst="rect">
            <a:avLst/>
          </a:prstGeom>
          <a:noFill/>
          <a:ln/>
        </p:spPr>
        <p:txBody>
          <a:bodyPr wrap="square" rtlCol="0" anchor="ctr"/>
          <a:lstStyle/>
          <a:p>
            <a:pPr indent="0" marL="0">
              <a:buNone/>
            </a:pPr>
            <a:r>
              <a:rPr lang="en-US" sz="1600" dirty="0">
                <a:solidFill>
                  <a:srgbClr val="D8CDEE"/>
                </a:solidFill>
                <a:latin typeface="Calibri" pitchFamily="34" charset="0"/>
                <a:ea typeface="Calibri" pitchFamily="34" charset="-122"/>
                <a:cs typeface="Calibri" pitchFamily="34" charset="-120"/>
              </a:rPr>
              <a:t>データの保存場所・アクセス制御・限界を正直にお伝えします</a:t>
            </a:r>
            <a:endParaRPr lang="en-US" sz="1600" dirty="0"/>
          </a:p>
        </p:txBody>
      </p:sp>
      <p:sp>
        <p:nvSpPr>
          <p:cNvPr id="8" name="Shape 6"/>
          <p:cNvSpPr/>
          <p:nvPr/>
        </p:nvSpPr>
        <p:spPr>
          <a:xfrm>
            <a:off x="822960" y="4709160"/>
            <a:ext cx="2011680" cy="0"/>
          </a:xfrm>
          <a:prstGeom prst="line">
            <a:avLst/>
          </a:prstGeom>
          <a:noFill/>
          <a:ln w="25400">
            <a:solidFill>
              <a:srgbClr val="C9962C"/>
            </a:solidFill>
            <a:prstDash val="solid"/>
          </a:ln>
        </p:spPr>
      </p:sp>
      <p:sp>
        <p:nvSpPr>
          <p:cNvPr id="9" name="Text 7"/>
          <p:cNvSpPr/>
          <p:nvPr/>
        </p:nvSpPr>
        <p:spPr>
          <a:xfrm>
            <a:off x="822960" y="4892040"/>
            <a:ext cx="5486400" cy="365760"/>
          </a:xfrm>
          <a:prstGeom prst="rect">
            <a:avLst/>
          </a:prstGeom>
          <a:noFill/>
          <a:ln/>
        </p:spPr>
        <p:txBody>
          <a:bodyPr wrap="square" rtlCol="0" anchor="ctr"/>
          <a:lstStyle/>
          <a:p>
            <a:pPr indent="0" marL="0">
              <a:buNone/>
            </a:pPr>
            <a:r>
              <a:rPr lang="en-US" sz="1300" dirty="0">
                <a:solidFill>
                  <a:srgbClr val="A99BC4"/>
                </a:solidFill>
                <a:latin typeface="Calibri" pitchFamily="34" charset="0"/>
                <a:ea typeface="Calibri" pitchFamily="34" charset="-122"/>
                <a:cs typeface="Calibri" pitchFamily="34" charset="-120"/>
              </a:rPr>
              <a:t>2026年7月版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WHERE DATA LIVES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データはどこに保存されているか</a:t>
            </a:r>
            <a:endParaRPr lang="en-US" sz="3200" dirty="0"/>
          </a:p>
        </p:txBody>
      </p:sp>
      <p:sp>
        <p:nvSpPr>
          <p:cNvPr id="4" name="Text 2"/>
          <p:cNvSpPr/>
          <p:nvPr/>
        </p:nvSpPr>
        <p:spPr>
          <a:xfrm>
            <a:off x="548640" y="1600200"/>
            <a:ext cx="10789920" cy="45720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すべてのデータは、会社が管理するGoogle Drive上に保存されています。外部の業者やサーバーは一切使っていません。</a:t>
            </a:r>
            <a:endParaRPr lang="en-US" sz="1400" dirty="0"/>
          </a:p>
        </p:txBody>
      </p:sp>
      <p:sp>
        <p:nvSpPr>
          <p:cNvPr id="5" name="Shape 3"/>
          <p:cNvSpPr/>
          <p:nvPr/>
        </p:nvSpPr>
        <p:spPr>
          <a:xfrm>
            <a:off x="548640" y="2331720"/>
            <a:ext cx="3429000" cy="3246120"/>
          </a:xfrm>
          <a:prstGeom prst="roundRect">
            <a:avLst>
              <a:gd name="adj" fmla="val 3380"/>
            </a:avLst>
          </a:prstGeom>
          <a:solidFill>
            <a:srgbClr val="EFEAFA"/>
          </a:solidFill>
          <a:ln/>
        </p:spPr>
      </p:sp>
      <p:sp>
        <p:nvSpPr>
          <p:cNvPr id="6" name="Shape 4"/>
          <p:cNvSpPr/>
          <p:nvPr/>
        </p:nvSpPr>
        <p:spPr>
          <a:xfrm>
            <a:off x="1851660" y="2651760"/>
            <a:ext cx="822960" cy="822960"/>
          </a:xfrm>
          <a:prstGeom prst="ellipse">
            <a:avLst/>
          </a:prstGeom>
          <a:solidFill>
            <a:srgbClr val="3D2960"/>
          </a:solidFill>
          <a:ln/>
        </p:spPr>
      </p:sp>
      <p:sp>
        <p:nvSpPr>
          <p:cNvPr id="7" name="Text 5"/>
          <p:cNvSpPr/>
          <p:nvPr/>
        </p:nvSpPr>
        <p:spPr>
          <a:xfrm>
            <a:off x="1851660" y="263347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8" name="Text 6"/>
          <p:cNvSpPr/>
          <p:nvPr/>
        </p:nvSpPr>
        <p:spPr>
          <a:xfrm>
            <a:off x="713232" y="3657600"/>
            <a:ext cx="3099816" cy="502920"/>
          </a:xfrm>
          <a:prstGeom prst="rect">
            <a:avLst/>
          </a:prstGeom>
          <a:noFill/>
          <a:ln/>
        </p:spPr>
        <p:txBody>
          <a:bodyPr wrap="square" rtlCol="0" anchor="ctr"/>
          <a:lstStyle/>
          <a:p>
            <a:pPr algn="ctr" indent="0" marL="0">
              <a:buNone/>
            </a:pPr>
            <a:r>
              <a:rPr lang="en-US" sz="1500" b="1" dirty="0">
                <a:solidFill>
                  <a:srgbClr val="3D2960"/>
                </a:solidFill>
                <a:latin typeface="Calibri" pitchFamily="34" charset="0"/>
                <a:ea typeface="Calibri" pitchFamily="34" charset="-122"/>
                <a:cs typeface="Calibri" pitchFamily="34" charset="-120"/>
              </a:rPr>
              <a:t>管理情報</a:t>
            </a:r>
            <a:endParaRPr lang="en-US" sz="1500" dirty="0"/>
          </a:p>
        </p:txBody>
      </p:sp>
      <p:sp>
        <p:nvSpPr>
          <p:cNvPr id="9" name="Text 7"/>
          <p:cNvSpPr/>
          <p:nvPr/>
        </p:nvSpPr>
        <p:spPr>
          <a:xfrm>
            <a:off x="804672" y="4206240"/>
            <a:ext cx="2916936" cy="1234440"/>
          </a:xfrm>
          <a:prstGeom prst="rect">
            <a:avLst/>
          </a:prstGeom>
          <a:noFill/>
          <a:ln/>
        </p:spPr>
        <p:txBody>
          <a:bodyPr wrap="square" rtlCol="0" anchor="ctr"/>
          <a:lstStyle/>
          <a:p>
            <a:pPr algn="ctr" indent="0" marL="0">
              <a:buNone/>
            </a:pPr>
            <a:r>
              <a:rPr lang="en-US" sz="1200" dirty="0">
                <a:solidFill>
                  <a:srgbClr val="241934"/>
                </a:solidFill>
                <a:latin typeface="Calibri" pitchFamily="34" charset="0"/>
                <a:ea typeface="Calibri" pitchFamily="34" charset="-122"/>
                <a:cs typeface="Calibri" pitchFamily="34" charset="-120"/>
              </a:rPr>
              <a:t>社員一覧・ID・パスワード・権限を1つのドキュメントに集約</a:t>
            </a:r>
            <a:endParaRPr lang="en-US" sz="1200" dirty="0"/>
          </a:p>
        </p:txBody>
      </p:sp>
      <p:sp>
        <p:nvSpPr>
          <p:cNvPr id="10" name="Shape 8"/>
          <p:cNvSpPr/>
          <p:nvPr/>
        </p:nvSpPr>
        <p:spPr>
          <a:xfrm>
            <a:off x="4233672" y="2331720"/>
            <a:ext cx="3429000" cy="3246120"/>
          </a:xfrm>
          <a:prstGeom prst="roundRect">
            <a:avLst>
              <a:gd name="adj" fmla="val 3380"/>
            </a:avLst>
          </a:prstGeom>
          <a:solidFill>
            <a:srgbClr val="EFEAFA"/>
          </a:solidFill>
          <a:ln/>
        </p:spPr>
      </p:sp>
      <p:sp>
        <p:nvSpPr>
          <p:cNvPr id="11" name="Shape 9"/>
          <p:cNvSpPr/>
          <p:nvPr/>
        </p:nvSpPr>
        <p:spPr>
          <a:xfrm>
            <a:off x="5536692" y="2651760"/>
            <a:ext cx="822960" cy="822960"/>
          </a:xfrm>
          <a:prstGeom prst="ellipse">
            <a:avLst/>
          </a:prstGeom>
          <a:solidFill>
            <a:srgbClr val="3D2960"/>
          </a:solidFill>
          <a:ln/>
        </p:spPr>
      </p:sp>
      <p:sp>
        <p:nvSpPr>
          <p:cNvPr id="12" name="Text 10"/>
          <p:cNvSpPr/>
          <p:nvPr/>
        </p:nvSpPr>
        <p:spPr>
          <a:xfrm>
            <a:off x="5536692" y="263347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13" name="Text 11"/>
          <p:cNvSpPr/>
          <p:nvPr/>
        </p:nvSpPr>
        <p:spPr>
          <a:xfrm>
            <a:off x="4398264" y="3657600"/>
            <a:ext cx="3099816" cy="502920"/>
          </a:xfrm>
          <a:prstGeom prst="rect">
            <a:avLst/>
          </a:prstGeom>
          <a:noFill/>
          <a:ln/>
        </p:spPr>
        <p:txBody>
          <a:bodyPr wrap="square" rtlCol="0" anchor="ctr"/>
          <a:lstStyle/>
          <a:p>
            <a:pPr algn="ctr" indent="0" marL="0">
              <a:buNone/>
            </a:pPr>
            <a:r>
              <a:rPr lang="en-US" sz="1500" b="1" dirty="0">
                <a:solidFill>
                  <a:srgbClr val="3D2960"/>
                </a:solidFill>
                <a:latin typeface="Calibri" pitchFamily="34" charset="0"/>
                <a:ea typeface="Calibri" pitchFamily="34" charset="-122"/>
                <a:cs typeface="Calibri" pitchFamily="34" charset="-120"/>
              </a:rPr>
              <a:t>個人フォルダ</a:t>
            </a:r>
            <a:endParaRPr lang="en-US" sz="1500" dirty="0"/>
          </a:p>
        </p:txBody>
      </p:sp>
      <p:sp>
        <p:nvSpPr>
          <p:cNvPr id="14" name="Text 12"/>
          <p:cNvSpPr/>
          <p:nvPr/>
        </p:nvSpPr>
        <p:spPr>
          <a:xfrm>
            <a:off x="4489704" y="4206240"/>
            <a:ext cx="2916936" cy="1234440"/>
          </a:xfrm>
          <a:prstGeom prst="rect">
            <a:avLst/>
          </a:prstGeom>
          <a:noFill/>
          <a:ln/>
        </p:spPr>
        <p:txBody>
          <a:bodyPr wrap="square" rtlCol="0" anchor="ctr"/>
          <a:lstStyle/>
          <a:p>
            <a:pPr algn="ctr" indent="0" marL="0">
              <a:buNone/>
            </a:pPr>
            <a:r>
              <a:rPr lang="en-US" sz="1200" dirty="0">
                <a:solidFill>
                  <a:srgbClr val="241934"/>
                </a:solidFill>
                <a:latin typeface="Calibri" pitchFamily="34" charset="0"/>
                <a:ea typeface="Calibri" pitchFamily="34" charset="-122"/>
                <a:cs typeface="Calibri" pitchFamily="34" charset="-120"/>
              </a:rPr>
              <a:t>本人のPDF明細・基本給・有給残・残業実績を個人ごとに分離</a:t>
            </a:r>
            <a:endParaRPr lang="en-US" sz="1200" dirty="0"/>
          </a:p>
        </p:txBody>
      </p:sp>
      <p:sp>
        <p:nvSpPr>
          <p:cNvPr id="15" name="Shape 13"/>
          <p:cNvSpPr/>
          <p:nvPr/>
        </p:nvSpPr>
        <p:spPr>
          <a:xfrm>
            <a:off x="7918704" y="2331720"/>
            <a:ext cx="3429000" cy="3246120"/>
          </a:xfrm>
          <a:prstGeom prst="roundRect">
            <a:avLst>
              <a:gd name="adj" fmla="val 3380"/>
            </a:avLst>
          </a:prstGeom>
          <a:solidFill>
            <a:srgbClr val="EFEAFA"/>
          </a:solidFill>
          <a:ln/>
        </p:spPr>
      </p:sp>
      <p:sp>
        <p:nvSpPr>
          <p:cNvPr id="16" name="Shape 14"/>
          <p:cNvSpPr/>
          <p:nvPr/>
        </p:nvSpPr>
        <p:spPr>
          <a:xfrm>
            <a:off x="9221724" y="2651760"/>
            <a:ext cx="822960" cy="822960"/>
          </a:xfrm>
          <a:prstGeom prst="ellipse">
            <a:avLst/>
          </a:prstGeom>
          <a:solidFill>
            <a:srgbClr val="3D2960"/>
          </a:solidFill>
          <a:ln/>
        </p:spPr>
      </p:sp>
      <p:sp>
        <p:nvSpPr>
          <p:cNvPr id="17" name="Text 15"/>
          <p:cNvSpPr/>
          <p:nvPr/>
        </p:nvSpPr>
        <p:spPr>
          <a:xfrm>
            <a:off x="9221724" y="263347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18" name="Text 16"/>
          <p:cNvSpPr/>
          <p:nvPr/>
        </p:nvSpPr>
        <p:spPr>
          <a:xfrm>
            <a:off x="8083296" y="3657600"/>
            <a:ext cx="3099816" cy="502920"/>
          </a:xfrm>
          <a:prstGeom prst="rect">
            <a:avLst/>
          </a:prstGeom>
          <a:noFill/>
          <a:ln/>
        </p:spPr>
        <p:txBody>
          <a:bodyPr wrap="square" rtlCol="0" anchor="ctr"/>
          <a:lstStyle/>
          <a:p>
            <a:pPr algn="ctr" indent="0" marL="0">
              <a:buNone/>
            </a:pPr>
            <a:r>
              <a:rPr lang="en-US" sz="1500" b="1" dirty="0">
                <a:solidFill>
                  <a:srgbClr val="3D2960"/>
                </a:solidFill>
                <a:latin typeface="Calibri" pitchFamily="34" charset="0"/>
                <a:ea typeface="Calibri" pitchFamily="34" charset="-122"/>
                <a:cs typeface="Calibri" pitchFamily="34" charset="-120"/>
              </a:rPr>
              <a:t>ニュース／操作ログ</a:t>
            </a:r>
            <a:endParaRPr lang="en-US" sz="1500" dirty="0"/>
          </a:p>
        </p:txBody>
      </p:sp>
      <p:sp>
        <p:nvSpPr>
          <p:cNvPr id="19" name="Text 17"/>
          <p:cNvSpPr/>
          <p:nvPr/>
        </p:nvSpPr>
        <p:spPr>
          <a:xfrm>
            <a:off x="8174736" y="4206240"/>
            <a:ext cx="2916936" cy="1234440"/>
          </a:xfrm>
          <a:prstGeom prst="rect">
            <a:avLst/>
          </a:prstGeom>
          <a:noFill/>
          <a:ln/>
        </p:spPr>
        <p:txBody>
          <a:bodyPr wrap="square" rtlCol="0" anchor="ctr"/>
          <a:lstStyle/>
          <a:p>
            <a:pPr algn="ctr" indent="0" marL="0">
              <a:buNone/>
            </a:pPr>
            <a:r>
              <a:rPr lang="en-US" sz="1200" dirty="0">
                <a:solidFill>
                  <a:srgbClr val="241934"/>
                </a:solidFill>
                <a:latin typeface="Calibri" pitchFamily="34" charset="0"/>
                <a:ea typeface="Calibri" pitchFamily="34" charset="-122"/>
                <a:cs typeface="Calibri" pitchFamily="34" charset="-120"/>
              </a:rPr>
              <a:t>お知らせと操作履歴を専用ドキュメントに記録</a:t>
            </a:r>
            <a:endParaRPr lang="en-US" sz="1200" dirty="0"/>
          </a:p>
        </p:txBody>
      </p:sp>
      <p:sp>
        <p:nvSpPr>
          <p:cNvPr id="20" name="Text 18"/>
          <p:cNvSpPr/>
          <p:nvPr/>
        </p:nvSpPr>
        <p:spPr>
          <a:xfrm>
            <a:off x="548640" y="5806440"/>
            <a:ext cx="10515600" cy="365760"/>
          </a:xfrm>
          <a:prstGeom prst="rect">
            <a:avLst/>
          </a:prstGeom>
          <a:noFill/>
          <a:ln/>
        </p:spPr>
        <p:txBody>
          <a:bodyPr wrap="square" rtlCol="0" anchor="ctr"/>
          <a:lstStyle/>
          <a:p>
            <a:pPr indent="0" marL="0">
              <a:buNone/>
            </a:pPr>
            <a:r>
              <a:rPr lang="en-US" sz="1150" i="1" dirty="0">
                <a:solidFill>
                  <a:srgbClr val="6B6478"/>
                </a:solidFill>
                <a:latin typeface="Calibri" pitchFamily="34" charset="0"/>
                <a:ea typeface="Calibri" pitchFamily="34" charset="-122"/>
                <a:cs typeface="Calibri" pitchFamily="34" charset="-120"/>
              </a:rPr>
              <a:t>Googleのデータセンターは高度なセキュリティ基準（ISO27001等）で運用されています。</a:t>
            </a:r>
            <a:endParaRPr lang="en-US" sz="1150" dirty="0"/>
          </a:p>
        </p:txBody>
      </p:sp>
      <p:sp>
        <p:nvSpPr>
          <p:cNvPr id="21" name="Text 19"/>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HOW ACCESS WORKS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社員は、Driveを直接触れない</a:t>
            </a:r>
            <a:endParaRPr lang="en-US" sz="3200" dirty="0"/>
          </a:p>
        </p:txBody>
      </p:sp>
      <p:sp>
        <p:nvSpPr>
          <p:cNvPr id="4" name="Text 2"/>
          <p:cNvSpPr/>
          <p:nvPr/>
        </p:nvSpPr>
        <p:spPr>
          <a:xfrm>
            <a:off x="548640" y="1600200"/>
            <a:ext cx="10789920" cy="45720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社員のブラウザは、Google Driveに直接アクセスしていません。必ず「Apps Script（GAS）」という仲介役を経由します。</a:t>
            </a:r>
            <a:endParaRPr lang="en-US" sz="1400" dirty="0"/>
          </a:p>
        </p:txBody>
      </p:sp>
      <p:sp>
        <p:nvSpPr>
          <p:cNvPr id="5" name="Shape 3"/>
          <p:cNvSpPr/>
          <p:nvPr/>
        </p:nvSpPr>
        <p:spPr>
          <a:xfrm>
            <a:off x="822960" y="2377440"/>
            <a:ext cx="3017520" cy="1371600"/>
          </a:xfrm>
          <a:prstGeom prst="roundRect">
            <a:avLst>
              <a:gd name="adj" fmla="val 6667"/>
            </a:avLst>
          </a:prstGeom>
          <a:solidFill>
            <a:srgbClr val="EFEAFA"/>
          </a:solidFill>
          <a:ln/>
        </p:spPr>
      </p:sp>
      <p:sp>
        <p:nvSpPr>
          <p:cNvPr id="6" name="Text 4"/>
          <p:cNvSpPr/>
          <p:nvPr/>
        </p:nvSpPr>
        <p:spPr>
          <a:xfrm>
            <a:off x="960120" y="2542032"/>
            <a:ext cx="2743200" cy="411480"/>
          </a:xfrm>
          <a:prstGeom prst="rect">
            <a:avLst/>
          </a:prstGeom>
          <a:noFill/>
          <a:ln/>
        </p:spPr>
        <p:txBody>
          <a:bodyPr wrap="square" rtlCol="0" anchor="ctr"/>
          <a:lstStyle/>
          <a:p>
            <a:pPr algn="ctr" indent="0" marL="0">
              <a:buNone/>
            </a:pPr>
            <a:r>
              <a:rPr lang="en-US" sz="1500" b="1" dirty="0">
                <a:solidFill>
                  <a:srgbClr val="3D2960"/>
                </a:solidFill>
                <a:latin typeface="Calibri" pitchFamily="34" charset="0"/>
                <a:ea typeface="Calibri" pitchFamily="34" charset="-122"/>
                <a:cs typeface="Calibri" pitchFamily="34" charset="-120"/>
              </a:rPr>
              <a:t>社員のブラウザ</a:t>
            </a:r>
            <a:endParaRPr lang="en-US" sz="1500" dirty="0"/>
          </a:p>
        </p:txBody>
      </p:sp>
      <p:sp>
        <p:nvSpPr>
          <p:cNvPr id="7" name="Text 5"/>
          <p:cNvSpPr/>
          <p:nvPr/>
        </p:nvSpPr>
        <p:spPr>
          <a:xfrm>
            <a:off x="960120" y="2971800"/>
            <a:ext cx="2743200" cy="685800"/>
          </a:xfrm>
          <a:prstGeom prst="rect">
            <a:avLst/>
          </a:prstGeom>
          <a:noFill/>
          <a:ln/>
        </p:spPr>
        <p:txBody>
          <a:bodyPr wrap="square" rtlCol="0" anchor="ctr"/>
          <a:lstStyle/>
          <a:p>
            <a:pPr algn="ctr" indent="0" marL="0">
              <a:buNone/>
            </a:pPr>
            <a:r>
              <a:rPr lang="en-US" sz="1150" dirty="0">
                <a:solidFill>
                  <a:srgbClr val="241934"/>
                </a:solidFill>
                <a:latin typeface="Calibri" pitchFamily="34" charset="0"/>
                <a:ea typeface="Calibri" pitchFamily="34" charset="-122"/>
                <a:cs typeface="Calibri" pitchFamily="34" charset="-120"/>
              </a:rPr>
              <a:t>ID・パスワードで</a:t>
            </a:r>
            <a:endParaRPr lang="en-US" sz="1150" dirty="0"/>
          </a:p>
          <a:p>
            <a:pPr algn="ctr" indent="0" marL="0">
              <a:buNone/>
            </a:pPr>
            <a:r>
              <a:rPr lang="en-US" sz="1150" dirty="0">
                <a:solidFill>
                  <a:srgbClr val="241934"/>
                </a:solidFill>
                <a:latin typeface="Calibri" pitchFamily="34" charset="0"/>
                <a:ea typeface="Calibri" pitchFamily="34" charset="-122"/>
                <a:cs typeface="Calibri" pitchFamily="34" charset="-120"/>
              </a:rPr>
              <a:t>リクエストするだけ</a:t>
            </a:r>
            <a:endParaRPr lang="en-US" sz="1150" dirty="0"/>
          </a:p>
        </p:txBody>
      </p:sp>
      <p:sp>
        <p:nvSpPr>
          <p:cNvPr id="8" name="Text 6"/>
          <p:cNvSpPr/>
          <p:nvPr/>
        </p:nvSpPr>
        <p:spPr>
          <a:xfrm>
            <a:off x="3913632" y="2788920"/>
            <a:ext cx="630936" cy="548640"/>
          </a:xfrm>
          <a:prstGeom prst="rect">
            <a:avLst/>
          </a:prstGeom>
          <a:noFill/>
          <a:ln/>
        </p:spPr>
        <p:txBody>
          <a:bodyPr wrap="square" rtlCol="0" anchor="ctr"/>
          <a:lstStyle/>
          <a:p>
            <a:pPr algn="ctr" indent="0" marL="0">
              <a:buNone/>
            </a:pPr>
            <a:r>
              <a:rPr lang="en-US" sz="2600" b="1" dirty="0">
                <a:solidFill>
                  <a:srgbClr val="C9962C"/>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617720" y="2377440"/>
            <a:ext cx="3017520" cy="1371600"/>
          </a:xfrm>
          <a:prstGeom prst="roundRect">
            <a:avLst>
              <a:gd name="adj" fmla="val 6667"/>
            </a:avLst>
          </a:prstGeom>
          <a:solidFill>
            <a:srgbClr val="3D2960"/>
          </a:solidFill>
          <a:ln/>
        </p:spPr>
      </p:sp>
      <p:sp>
        <p:nvSpPr>
          <p:cNvPr id="10" name="Text 8"/>
          <p:cNvSpPr/>
          <p:nvPr/>
        </p:nvSpPr>
        <p:spPr>
          <a:xfrm>
            <a:off x="4754880" y="2542032"/>
            <a:ext cx="2743200" cy="4114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Apps Script（GAS）</a:t>
            </a:r>
            <a:endParaRPr lang="en-US" sz="1500" dirty="0"/>
          </a:p>
        </p:txBody>
      </p:sp>
      <p:sp>
        <p:nvSpPr>
          <p:cNvPr id="11" name="Text 9"/>
          <p:cNvSpPr/>
          <p:nvPr/>
        </p:nvSpPr>
        <p:spPr>
          <a:xfrm>
            <a:off x="4754880" y="2971800"/>
            <a:ext cx="2743200" cy="685800"/>
          </a:xfrm>
          <a:prstGeom prst="rect">
            <a:avLst/>
          </a:prstGeom>
          <a:noFill/>
          <a:ln/>
        </p:spPr>
        <p:txBody>
          <a:bodyPr wrap="square" rtlCol="0" anchor="ctr"/>
          <a:lstStyle/>
          <a:p>
            <a:pPr algn="ctr" indent="0" marL="0">
              <a:buNone/>
            </a:pPr>
            <a:r>
              <a:rPr lang="en-US" sz="1150" dirty="0">
                <a:solidFill>
                  <a:srgbClr val="E8DFF5"/>
                </a:solidFill>
                <a:latin typeface="Calibri" pitchFamily="34" charset="0"/>
                <a:ea typeface="Calibri" pitchFamily="34" charset="-122"/>
                <a:cs typeface="Calibri" pitchFamily="34" charset="-120"/>
              </a:rPr>
              <a:t>管理者アカウントの</a:t>
            </a:r>
            <a:endParaRPr lang="en-US" sz="1150" dirty="0"/>
          </a:p>
          <a:p>
            <a:pPr algn="ctr" indent="0" marL="0">
              <a:buNone/>
            </a:pPr>
            <a:r>
              <a:rPr lang="en-US" sz="1150" dirty="0">
                <a:solidFill>
                  <a:srgbClr val="E8DFF5"/>
                </a:solidFill>
                <a:latin typeface="Calibri" pitchFamily="34" charset="0"/>
                <a:ea typeface="Calibri" pitchFamily="34" charset="-122"/>
                <a:cs typeface="Calibri" pitchFamily="34" charset="-120"/>
              </a:rPr>
              <a:t>権限で代理アクセス</a:t>
            </a:r>
            <a:endParaRPr lang="en-US" sz="1150" dirty="0"/>
          </a:p>
        </p:txBody>
      </p:sp>
      <p:sp>
        <p:nvSpPr>
          <p:cNvPr id="12" name="Text 10"/>
          <p:cNvSpPr/>
          <p:nvPr/>
        </p:nvSpPr>
        <p:spPr>
          <a:xfrm>
            <a:off x="7708392" y="2788920"/>
            <a:ext cx="630936" cy="548640"/>
          </a:xfrm>
          <a:prstGeom prst="rect">
            <a:avLst/>
          </a:prstGeom>
          <a:noFill/>
          <a:ln/>
        </p:spPr>
        <p:txBody>
          <a:bodyPr wrap="square" rtlCol="0" anchor="ctr"/>
          <a:lstStyle/>
          <a:p>
            <a:pPr algn="ctr" indent="0" marL="0">
              <a:buNone/>
            </a:pPr>
            <a:r>
              <a:rPr lang="en-US" sz="2600" b="1" dirty="0">
                <a:solidFill>
                  <a:srgbClr val="C9962C"/>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8412480" y="2377440"/>
            <a:ext cx="3017520" cy="1371600"/>
          </a:xfrm>
          <a:prstGeom prst="roundRect">
            <a:avLst>
              <a:gd name="adj" fmla="val 6667"/>
            </a:avLst>
          </a:prstGeom>
          <a:solidFill>
            <a:srgbClr val="EFEAFA"/>
          </a:solidFill>
          <a:ln/>
        </p:spPr>
      </p:sp>
      <p:sp>
        <p:nvSpPr>
          <p:cNvPr id="14" name="Text 12"/>
          <p:cNvSpPr/>
          <p:nvPr/>
        </p:nvSpPr>
        <p:spPr>
          <a:xfrm>
            <a:off x="8549640" y="2542032"/>
            <a:ext cx="2743200" cy="411480"/>
          </a:xfrm>
          <a:prstGeom prst="rect">
            <a:avLst/>
          </a:prstGeom>
          <a:noFill/>
          <a:ln/>
        </p:spPr>
        <p:txBody>
          <a:bodyPr wrap="square" rtlCol="0" anchor="ctr"/>
          <a:lstStyle/>
          <a:p>
            <a:pPr algn="ctr" indent="0" marL="0">
              <a:buNone/>
            </a:pPr>
            <a:r>
              <a:rPr lang="en-US" sz="1500" b="1" dirty="0">
                <a:solidFill>
                  <a:srgbClr val="3D2960"/>
                </a:solidFill>
                <a:latin typeface="Calibri" pitchFamily="34" charset="0"/>
                <a:ea typeface="Calibri" pitchFamily="34" charset="-122"/>
                <a:cs typeface="Calibri" pitchFamily="34" charset="-120"/>
              </a:rPr>
              <a:t>Google Drive</a:t>
            </a:r>
            <a:endParaRPr lang="en-US" sz="1500" dirty="0"/>
          </a:p>
        </p:txBody>
      </p:sp>
      <p:sp>
        <p:nvSpPr>
          <p:cNvPr id="15" name="Text 13"/>
          <p:cNvSpPr/>
          <p:nvPr/>
        </p:nvSpPr>
        <p:spPr>
          <a:xfrm>
            <a:off x="8549640" y="2971800"/>
            <a:ext cx="2743200" cy="685800"/>
          </a:xfrm>
          <a:prstGeom prst="rect">
            <a:avLst/>
          </a:prstGeom>
          <a:noFill/>
          <a:ln/>
        </p:spPr>
        <p:txBody>
          <a:bodyPr wrap="square" rtlCol="0" anchor="ctr"/>
          <a:lstStyle/>
          <a:p>
            <a:pPr algn="ctr" indent="0" marL="0">
              <a:buNone/>
            </a:pPr>
            <a:r>
              <a:rPr lang="en-US" sz="1150" dirty="0">
                <a:solidFill>
                  <a:srgbClr val="241934"/>
                </a:solidFill>
                <a:latin typeface="Calibri" pitchFamily="34" charset="0"/>
                <a:ea typeface="Calibri" pitchFamily="34" charset="-122"/>
                <a:cs typeface="Calibri" pitchFamily="34" charset="-120"/>
              </a:rPr>
              <a:t>実際のデータが</a:t>
            </a:r>
            <a:endParaRPr lang="en-US" sz="1150" dirty="0"/>
          </a:p>
          <a:p>
            <a:pPr algn="ctr" indent="0" marL="0">
              <a:buNone/>
            </a:pPr>
            <a:r>
              <a:rPr lang="en-US" sz="1150" dirty="0">
                <a:solidFill>
                  <a:srgbClr val="241934"/>
                </a:solidFill>
                <a:latin typeface="Calibri" pitchFamily="34" charset="0"/>
                <a:ea typeface="Calibri" pitchFamily="34" charset="-122"/>
                <a:cs typeface="Calibri" pitchFamily="34" charset="-120"/>
              </a:rPr>
              <a:t>保管されている場所</a:t>
            </a:r>
            <a:endParaRPr lang="en-US" sz="1150" dirty="0"/>
          </a:p>
        </p:txBody>
      </p:sp>
      <p:sp>
        <p:nvSpPr>
          <p:cNvPr id="16" name="Shape 14"/>
          <p:cNvSpPr/>
          <p:nvPr/>
        </p:nvSpPr>
        <p:spPr>
          <a:xfrm>
            <a:off x="822960" y="4251960"/>
            <a:ext cx="10515600" cy="1554480"/>
          </a:xfrm>
          <a:prstGeom prst="roundRect">
            <a:avLst>
              <a:gd name="adj" fmla="val 5882"/>
            </a:avLst>
          </a:prstGeom>
          <a:solidFill>
            <a:srgbClr val="EFEAFA"/>
          </a:solidFill>
          <a:ln/>
        </p:spPr>
      </p:sp>
      <p:sp>
        <p:nvSpPr>
          <p:cNvPr id="17" name="Text 15"/>
          <p:cNvSpPr/>
          <p:nvPr/>
        </p:nvSpPr>
        <p:spPr>
          <a:xfrm>
            <a:off x="1097280" y="4434840"/>
            <a:ext cx="2743200" cy="365760"/>
          </a:xfrm>
          <a:prstGeom prst="rect">
            <a:avLst/>
          </a:prstGeom>
          <a:noFill/>
          <a:ln/>
        </p:spPr>
        <p:txBody>
          <a:bodyPr wrap="square" rtlCol="0" anchor="ctr"/>
          <a:lstStyle/>
          <a:p>
            <a:pPr indent="0" marL="0">
              <a:buNone/>
            </a:pPr>
            <a:r>
              <a:rPr lang="en-US" sz="1300" b="1" dirty="0">
                <a:solidFill>
                  <a:srgbClr val="C9962C"/>
                </a:solidFill>
                <a:latin typeface="Calibri" pitchFamily="34" charset="0"/>
                <a:ea typeface="Calibri" pitchFamily="34" charset="-122"/>
                <a:cs typeface="Calibri" pitchFamily="34" charset="-120"/>
              </a:rPr>
              <a:t>つまり</a:t>
            </a:r>
            <a:endParaRPr lang="en-US" sz="1300" dirty="0"/>
          </a:p>
        </p:txBody>
      </p:sp>
      <p:sp>
        <p:nvSpPr>
          <p:cNvPr id="18" name="Text 16"/>
          <p:cNvSpPr/>
          <p:nvPr/>
        </p:nvSpPr>
        <p:spPr>
          <a:xfrm>
            <a:off x="1097280" y="4754880"/>
            <a:ext cx="9966960" cy="91440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フォルダやドキュメントの共有設定を「全員に公開」する必要がありません。実際、管理情報やニュースのフォルダは非公開（アクセス制限あり）のまま運用されています。</a:t>
            </a:r>
            <a:endParaRPr lang="en-US" sz="1400" dirty="0"/>
          </a:p>
        </p:txBody>
      </p:sp>
      <p:sp>
        <p:nvSpPr>
          <p:cNvPr id="19" name="Text 17"/>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PASSWORDS &amp; LOGIN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パスワードとログインの仕組み</a:t>
            </a:r>
            <a:endParaRPr lang="en-US" sz="3200" dirty="0"/>
          </a:p>
        </p:txBody>
      </p:sp>
      <p:sp>
        <p:nvSpPr>
          <p:cNvPr id="4" name="Shape 2"/>
          <p:cNvSpPr/>
          <p:nvPr/>
        </p:nvSpPr>
        <p:spPr>
          <a:xfrm>
            <a:off x="548640" y="1874520"/>
            <a:ext cx="6309360" cy="4206240"/>
          </a:xfrm>
          <a:prstGeom prst="roundRect">
            <a:avLst>
              <a:gd name="adj" fmla="val 2609"/>
            </a:avLst>
          </a:prstGeom>
          <a:solidFill>
            <a:srgbClr val="EFEAFA"/>
          </a:solidFill>
          <a:ln/>
        </p:spPr>
      </p:sp>
      <p:sp>
        <p:nvSpPr>
          <p:cNvPr id="5" name="Text 3"/>
          <p:cNvSpPr/>
          <p:nvPr/>
        </p:nvSpPr>
        <p:spPr>
          <a:xfrm>
            <a:off x="868680" y="2103120"/>
            <a:ext cx="5486400" cy="457200"/>
          </a:xfrm>
          <a:prstGeom prst="rect">
            <a:avLst/>
          </a:prstGeom>
          <a:noFill/>
          <a:ln/>
        </p:spPr>
        <p:txBody>
          <a:bodyPr wrap="square" rtlCol="0" anchor="ctr"/>
          <a:lstStyle/>
          <a:p>
            <a:pPr indent="0" marL="0">
              <a:buNone/>
            </a:pPr>
            <a:r>
              <a:rPr lang="en-US" sz="1700" b="1" dirty="0">
                <a:solidFill>
                  <a:srgbClr val="3E7A4E"/>
                </a:solidFill>
                <a:latin typeface="Calibri" pitchFamily="34" charset="0"/>
                <a:ea typeface="Calibri" pitchFamily="34" charset="-122"/>
                <a:cs typeface="Calibri" pitchFamily="34" charset="-120"/>
              </a:rPr>
              <a:t>できていること</a:t>
            </a:r>
            <a:endParaRPr lang="en-US" sz="1700" dirty="0"/>
          </a:p>
        </p:txBody>
      </p:sp>
      <p:sp>
        <p:nvSpPr>
          <p:cNvPr id="6" name="Text 4"/>
          <p:cNvSpPr/>
          <p:nvPr/>
        </p:nvSpPr>
        <p:spPr>
          <a:xfrm>
            <a:off x="868680" y="2743200"/>
            <a:ext cx="365760" cy="548640"/>
          </a:xfrm>
          <a:prstGeom prst="rect">
            <a:avLst/>
          </a:prstGeom>
          <a:noFill/>
          <a:ln/>
        </p:spPr>
        <p:txBody>
          <a:bodyPr wrap="square" rtlCol="0" anchor="ctr"/>
          <a:lstStyle/>
          <a:p>
            <a:pPr indent="0" marL="0">
              <a:buNone/>
            </a:pPr>
            <a:r>
              <a:rPr lang="en-US" sz="1600" b="1" dirty="0">
                <a:solidFill>
                  <a:srgbClr val="3E7A4E"/>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34440" y="2743200"/>
            <a:ext cx="5394960" cy="777240"/>
          </a:xfrm>
          <a:prstGeom prst="rect">
            <a:avLst/>
          </a:prstGeom>
          <a:noFill/>
          <a:ln/>
        </p:spPr>
        <p:txBody>
          <a:bodyPr wrap="square" rtlCol="0" anchor="t"/>
          <a:lstStyle/>
          <a:p>
            <a:pPr indent="0" marL="0">
              <a:buNone/>
            </a:pPr>
            <a:r>
              <a:rPr lang="en-US" sz="1250" dirty="0">
                <a:solidFill>
                  <a:srgbClr val="241934"/>
                </a:solidFill>
                <a:latin typeface="Calibri" pitchFamily="34" charset="0"/>
                <a:ea typeface="Calibri" pitchFamily="34" charset="-122"/>
                <a:cs typeface="Calibri" pitchFamily="34" charset="-120"/>
              </a:rPr>
              <a:t>社員ごとに個別の社員ID・パスワードを発行</a:t>
            </a:r>
            <a:endParaRPr lang="en-US" sz="1250" dirty="0"/>
          </a:p>
        </p:txBody>
      </p:sp>
      <p:sp>
        <p:nvSpPr>
          <p:cNvPr id="8" name="Text 6"/>
          <p:cNvSpPr/>
          <p:nvPr/>
        </p:nvSpPr>
        <p:spPr>
          <a:xfrm>
            <a:off x="868680" y="3566160"/>
            <a:ext cx="365760" cy="548640"/>
          </a:xfrm>
          <a:prstGeom prst="rect">
            <a:avLst/>
          </a:prstGeom>
          <a:noFill/>
          <a:ln/>
        </p:spPr>
        <p:txBody>
          <a:bodyPr wrap="square" rtlCol="0" anchor="ctr"/>
          <a:lstStyle/>
          <a:p>
            <a:pPr indent="0" marL="0">
              <a:buNone/>
            </a:pPr>
            <a:r>
              <a:rPr lang="en-US" sz="1600" b="1" dirty="0">
                <a:solidFill>
                  <a:srgbClr val="3E7A4E"/>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1234440" y="3566160"/>
            <a:ext cx="5394960" cy="777240"/>
          </a:xfrm>
          <a:prstGeom prst="rect">
            <a:avLst/>
          </a:prstGeom>
          <a:noFill/>
          <a:ln/>
        </p:spPr>
        <p:txBody>
          <a:bodyPr wrap="square" rtlCol="0" anchor="t"/>
          <a:lstStyle/>
          <a:p>
            <a:pPr indent="0" marL="0">
              <a:buNone/>
            </a:pPr>
            <a:r>
              <a:rPr lang="en-US" sz="1250" dirty="0">
                <a:solidFill>
                  <a:srgbClr val="241934"/>
                </a:solidFill>
                <a:latin typeface="Calibri" pitchFamily="34" charset="0"/>
                <a:ea typeface="Calibri" pitchFamily="34" charset="-122"/>
                <a:cs typeface="Calibri" pitchFamily="34" charset="-120"/>
              </a:rPr>
              <a:t>パスワードは英字と数字を組み合わせて8文字以上のルール</a:t>
            </a:r>
            <a:endParaRPr lang="en-US" sz="1250" dirty="0"/>
          </a:p>
        </p:txBody>
      </p:sp>
      <p:sp>
        <p:nvSpPr>
          <p:cNvPr id="10" name="Text 8"/>
          <p:cNvSpPr/>
          <p:nvPr/>
        </p:nvSpPr>
        <p:spPr>
          <a:xfrm>
            <a:off x="868680" y="4389120"/>
            <a:ext cx="365760" cy="548640"/>
          </a:xfrm>
          <a:prstGeom prst="rect">
            <a:avLst/>
          </a:prstGeom>
          <a:noFill/>
          <a:ln/>
        </p:spPr>
        <p:txBody>
          <a:bodyPr wrap="square" rtlCol="0" anchor="ctr"/>
          <a:lstStyle/>
          <a:p>
            <a:pPr indent="0" marL="0">
              <a:buNone/>
            </a:pPr>
            <a:r>
              <a:rPr lang="en-US" sz="1600" b="1" dirty="0">
                <a:solidFill>
                  <a:srgbClr val="3E7A4E"/>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234440" y="4389120"/>
            <a:ext cx="5394960" cy="777240"/>
          </a:xfrm>
          <a:prstGeom prst="rect">
            <a:avLst/>
          </a:prstGeom>
          <a:noFill/>
          <a:ln/>
        </p:spPr>
        <p:txBody>
          <a:bodyPr wrap="square" rtlCol="0" anchor="t"/>
          <a:lstStyle/>
          <a:p>
            <a:pPr indent="0" marL="0">
              <a:buNone/>
            </a:pPr>
            <a:r>
              <a:rPr lang="en-US" sz="1250" dirty="0">
                <a:solidFill>
                  <a:srgbClr val="241934"/>
                </a:solidFill>
                <a:latin typeface="Calibri" pitchFamily="34" charset="0"/>
                <a:ea typeface="Calibri" pitchFamily="34" charset="-122"/>
                <a:cs typeface="Calibri" pitchFamily="34" charset="-120"/>
              </a:rPr>
              <a:t>本人確認（苗字・名前・生年月日）を経てパスワード再発行が可能</a:t>
            </a:r>
            <a:endParaRPr lang="en-US" sz="1250" dirty="0"/>
          </a:p>
        </p:txBody>
      </p:sp>
      <p:sp>
        <p:nvSpPr>
          <p:cNvPr id="12" name="Text 10"/>
          <p:cNvSpPr/>
          <p:nvPr/>
        </p:nvSpPr>
        <p:spPr>
          <a:xfrm>
            <a:off x="868680" y="5212080"/>
            <a:ext cx="365760" cy="548640"/>
          </a:xfrm>
          <a:prstGeom prst="rect">
            <a:avLst/>
          </a:prstGeom>
          <a:noFill/>
          <a:ln/>
        </p:spPr>
        <p:txBody>
          <a:bodyPr wrap="square" rtlCol="0" anchor="ctr"/>
          <a:lstStyle/>
          <a:p>
            <a:pPr indent="0" marL="0">
              <a:buNone/>
            </a:pPr>
            <a:r>
              <a:rPr lang="en-US" sz="1600" b="1" dirty="0">
                <a:solidFill>
                  <a:srgbClr val="3E7A4E"/>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234440" y="5212080"/>
            <a:ext cx="5394960" cy="777240"/>
          </a:xfrm>
          <a:prstGeom prst="rect">
            <a:avLst/>
          </a:prstGeom>
          <a:noFill/>
          <a:ln/>
        </p:spPr>
        <p:txBody>
          <a:bodyPr wrap="square" rtlCol="0" anchor="t"/>
          <a:lstStyle/>
          <a:p>
            <a:pPr indent="0" marL="0">
              <a:buNone/>
            </a:pPr>
            <a:r>
              <a:rPr lang="en-US" sz="1250" dirty="0">
                <a:solidFill>
                  <a:srgbClr val="241934"/>
                </a:solidFill>
                <a:latin typeface="Calibri" pitchFamily="34" charset="0"/>
                <a:ea typeface="Calibri" pitchFamily="34" charset="-122"/>
                <a:cs typeface="Calibri" pitchFamily="34" charset="-120"/>
              </a:rPr>
              <a:t>ログイン後は、本人確認なしでパスワード変更が可能</a:t>
            </a:r>
            <a:endParaRPr lang="en-US" sz="1250" dirty="0"/>
          </a:p>
        </p:txBody>
      </p:sp>
      <p:sp>
        <p:nvSpPr>
          <p:cNvPr id="14" name="Shape 12"/>
          <p:cNvSpPr/>
          <p:nvPr/>
        </p:nvSpPr>
        <p:spPr>
          <a:xfrm>
            <a:off x="7086600" y="1874520"/>
            <a:ext cx="4526280" cy="4206240"/>
          </a:xfrm>
          <a:prstGeom prst="roundRect">
            <a:avLst>
              <a:gd name="adj" fmla="val 2609"/>
            </a:avLst>
          </a:prstGeom>
          <a:solidFill>
            <a:srgbClr val="FBEDEC"/>
          </a:solidFill>
          <a:ln/>
        </p:spPr>
      </p:sp>
      <p:sp>
        <p:nvSpPr>
          <p:cNvPr id="15" name="Text 13"/>
          <p:cNvSpPr/>
          <p:nvPr/>
        </p:nvSpPr>
        <p:spPr>
          <a:xfrm>
            <a:off x="7406640" y="2103120"/>
            <a:ext cx="3840480" cy="457200"/>
          </a:xfrm>
          <a:prstGeom prst="rect">
            <a:avLst/>
          </a:prstGeom>
          <a:noFill/>
          <a:ln/>
        </p:spPr>
        <p:txBody>
          <a:bodyPr wrap="square" rtlCol="0" anchor="ctr"/>
          <a:lstStyle/>
          <a:p>
            <a:pPr indent="0" marL="0">
              <a:buNone/>
            </a:pPr>
            <a:r>
              <a:rPr lang="en-US" sz="1700" b="1" dirty="0">
                <a:solidFill>
                  <a:srgbClr val="B23A3A"/>
                </a:solidFill>
                <a:latin typeface="Calibri" pitchFamily="34" charset="0"/>
                <a:ea typeface="Calibri" pitchFamily="34" charset="-122"/>
                <a:cs typeface="Calibri" pitchFamily="34" charset="-120"/>
              </a:rPr>
              <a:t>正直な限界</a:t>
            </a:r>
            <a:endParaRPr lang="en-US" sz="1700" dirty="0"/>
          </a:p>
        </p:txBody>
      </p:sp>
      <p:sp>
        <p:nvSpPr>
          <p:cNvPr id="16" name="Text 14"/>
          <p:cNvSpPr/>
          <p:nvPr/>
        </p:nvSpPr>
        <p:spPr>
          <a:xfrm>
            <a:off x="7406640" y="2697480"/>
            <a:ext cx="3931920" cy="3200400"/>
          </a:xfrm>
          <a:prstGeom prst="rect">
            <a:avLst/>
          </a:prstGeom>
          <a:noFill/>
          <a:ln/>
        </p:spPr>
        <p:txBody>
          <a:bodyPr wrap="square" rtlCol="0" anchor="ctr"/>
          <a:lstStyle/>
          <a:p>
            <a:pPr marL="342900" indent="-342900">
              <a:spcAft>
                <a:spcPts val="1000"/>
              </a:spcAft>
              <a:buSzPct val="100000"/>
              <a:buChar char="•"/>
            </a:pPr>
            <a:r>
              <a:rPr lang="en-US" sz="1200" dirty="0">
                <a:solidFill>
                  <a:srgbClr val="241934"/>
                </a:solidFill>
                <a:latin typeface="Calibri" pitchFamily="34" charset="0"/>
                <a:ea typeface="Calibri" pitchFamily="34" charset="-122"/>
                <a:cs typeface="Calibri" pitchFamily="34" charset="-120"/>
              </a:rPr>
              <a:t>パスワードは暗号化されず、平文のまま保存・通信されています</a:t>
            </a:r>
            <a:endParaRPr lang="en-US" sz="1200" dirty="0"/>
          </a:p>
          <a:p>
            <a:pPr marL="342900" indent="-342900">
              <a:spcAft>
                <a:spcPts val="1000"/>
              </a:spcAft>
              <a:buSzPct val="100000"/>
              <a:buChar char="•"/>
            </a:pPr>
            <a:r>
              <a:rPr lang="en-US" sz="1200" dirty="0">
                <a:solidFill>
                  <a:srgbClr val="241934"/>
                </a:solidFill>
                <a:latin typeface="Calibri" pitchFamily="34" charset="0"/>
                <a:ea typeface="Calibri" pitchFamily="34" charset="-122"/>
                <a:cs typeface="Calibri" pitchFamily="34" charset="-120"/>
              </a:rPr>
              <a:t>社員間でお互いの明細を見られない程度の安全性であり、非常に高いセキュリティ水準ではありません</a:t>
            </a:r>
            <a:endParaRPr lang="en-US" sz="1200" dirty="0"/>
          </a:p>
        </p:txBody>
      </p:sp>
      <p:sp>
        <p:nvSpPr>
          <p:cNvPr id="17" name="Text 15"/>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WRITE VERIFICATION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「他人のデータを上書きしない」仕組み</a:t>
            </a:r>
            <a:endParaRPr lang="en-US" sz="3200" dirty="0"/>
          </a:p>
        </p:txBody>
      </p:sp>
      <p:sp>
        <p:nvSpPr>
          <p:cNvPr id="4" name="Text 2"/>
          <p:cNvSpPr/>
          <p:nvPr/>
        </p:nvSpPr>
        <p:spPr>
          <a:xfrm>
            <a:off x="548640" y="1600200"/>
            <a:ext cx="10789920" cy="54864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設定を保存するたびに、GASが「このIDの人は、本当にこのフォルダの持ち主か」を必ず確認してから書き込みます。</a:t>
            </a:r>
            <a:endParaRPr lang="en-US" sz="1400" dirty="0"/>
          </a:p>
        </p:txBody>
      </p:sp>
      <p:sp>
        <p:nvSpPr>
          <p:cNvPr id="5" name="Shape 3"/>
          <p:cNvSpPr/>
          <p:nvPr/>
        </p:nvSpPr>
        <p:spPr>
          <a:xfrm>
            <a:off x="548640" y="2423160"/>
            <a:ext cx="777240" cy="1051560"/>
          </a:xfrm>
          <a:prstGeom prst="roundRect">
            <a:avLst>
              <a:gd name="adj" fmla="val 11765"/>
            </a:avLst>
          </a:prstGeom>
          <a:solidFill>
            <a:srgbClr val="3D2960"/>
          </a:solidFill>
          <a:ln/>
        </p:spPr>
      </p:sp>
      <p:sp>
        <p:nvSpPr>
          <p:cNvPr id="6" name="Text 4"/>
          <p:cNvSpPr/>
          <p:nvPr/>
        </p:nvSpPr>
        <p:spPr>
          <a:xfrm>
            <a:off x="548640" y="2423160"/>
            <a:ext cx="77724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Shape 5"/>
          <p:cNvSpPr/>
          <p:nvPr/>
        </p:nvSpPr>
        <p:spPr>
          <a:xfrm>
            <a:off x="1463040" y="2423160"/>
            <a:ext cx="9464040" cy="1051560"/>
          </a:xfrm>
          <a:prstGeom prst="roundRect">
            <a:avLst>
              <a:gd name="adj" fmla="val 8696"/>
            </a:avLst>
          </a:prstGeom>
          <a:solidFill>
            <a:srgbClr val="EFEAFA"/>
          </a:solidFill>
          <a:ln/>
        </p:spPr>
      </p:sp>
      <p:sp>
        <p:nvSpPr>
          <p:cNvPr id="8" name="Text 6"/>
          <p:cNvSpPr/>
          <p:nvPr/>
        </p:nvSpPr>
        <p:spPr>
          <a:xfrm>
            <a:off x="1737360" y="2532888"/>
            <a:ext cx="8869680" cy="411480"/>
          </a:xfrm>
          <a:prstGeom prst="rect">
            <a:avLst/>
          </a:prstGeom>
          <a:noFill/>
          <a:ln/>
        </p:spPr>
        <p:txBody>
          <a:bodyPr wrap="square" rtlCol="0" anchor="ctr"/>
          <a:lstStyle/>
          <a:p>
            <a:pPr indent="0" marL="0">
              <a:buNone/>
            </a:pPr>
            <a:r>
              <a:rPr lang="en-US" sz="1500" b="1" dirty="0">
                <a:solidFill>
                  <a:srgbClr val="3D2960"/>
                </a:solidFill>
                <a:latin typeface="Calibri" pitchFamily="34" charset="0"/>
                <a:ea typeface="Calibri" pitchFamily="34" charset="-122"/>
                <a:cs typeface="Calibri" pitchFamily="34" charset="-120"/>
              </a:rPr>
              <a:t>書き込みリクエスト受信</a:t>
            </a:r>
            <a:endParaRPr lang="en-US" sz="1500" dirty="0"/>
          </a:p>
        </p:txBody>
      </p:sp>
      <p:sp>
        <p:nvSpPr>
          <p:cNvPr id="9" name="Text 7"/>
          <p:cNvSpPr/>
          <p:nvPr/>
        </p:nvSpPr>
        <p:spPr>
          <a:xfrm>
            <a:off x="1737360" y="2935224"/>
            <a:ext cx="8869680" cy="457200"/>
          </a:xfrm>
          <a:prstGeom prst="rect">
            <a:avLst/>
          </a:prstGeom>
          <a:noFill/>
          <a:ln/>
        </p:spPr>
        <p:txBody>
          <a:bodyPr wrap="square" rtlCol="0" anchor="ctr"/>
          <a:lstStyle/>
          <a:p>
            <a:pPr indent="0" marL="0">
              <a:buNone/>
            </a:pPr>
            <a:r>
              <a:rPr lang="en-US" sz="1200" dirty="0">
                <a:solidFill>
                  <a:srgbClr val="241934"/>
                </a:solidFill>
                <a:latin typeface="Calibri" pitchFamily="34" charset="0"/>
                <a:ea typeface="Calibri" pitchFamily="34" charset="-122"/>
                <a:cs typeface="Calibri" pitchFamily="34" charset="-120"/>
              </a:rPr>
              <a:t>社員ID＋書き込み先フォルダIDを受け取る</a:t>
            </a:r>
            <a:endParaRPr lang="en-US" sz="1200" dirty="0"/>
          </a:p>
        </p:txBody>
      </p:sp>
      <p:sp>
        <p:nvSpPr>
          <p:cNvPr id="10" name="Shape 8"/>
          <p:cNvSpPr/>
          <p:nvPr/>
        </p:nvSpPr>
        <p:spPr>
          <a:xfrm>
            <a:off x="548640" y="3611880"/>
            <a:ext cx="777240" cy="1051560"/>
          </a:xfrm>
          <a:prstGeom prst="roundRect">
            <a:avLst>
              <a:gd name="adj" fmla="val 11765"/>
            </a:avLst>
          </a:prstGeom>
          <a:solidFill>
            <a:srgbClr val="3D2960"/>
          </a:solidFill>
          <a:ln/>
        </p:spPr>
      </p:sp>
      <p:sp>
        <p:nvSpPr>
          <p:cNvPr id="11" name="Text 9"/>
          <p:cNvSpPr/>
          <p:nvPr/>
        </p:nvSpPr>
        <p:spPr>
          <a:xfrm>
            <a:off x="548640" y="3611880"/>
            <a:ext cx="77724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Shape 10"/>
          <p:cNvSpPr/>
          <p:nvPr/>
        </p:nvSpPr>
        <p:spPr>
          <a:xfrm>
            <a:off x="1463040" y="3611880"/>
            <a:ext cx="9464040" cy="1051560"/>
          </a:xfrm>
          <a:prstGeom prst="roundRect">
            <a:avLst>
              <a:gd name="adj" fmla="val 8696"/>
            </a:avLst>
          </a:prstGeom>
          <a:solidFill>
            <a:srgbClr val="EFEAFA"/>
          </a:solidFill>
          <a:ln/>
        </p:spPr>
      </p:sp>
      <p:sp>
        <p:nvSpPr>
          <p:cNvPr id="13" name="Text 11"/>
          <p:cNvSpPr/>
          <p:nvPr/>
        </p:nvSpPr>
        <p:spPr>
          <a:xfrm>
            <a:off x="1737360" y="3721608"/>
            <a:ext cx="8869680" cy="411480"/>
          </a:xfrm>
          <a:prstGeom prst="rect">
            <a:avLst/>
          </a:prstGeom>
          <a:noFill/>
          <a:ln/>
        </p:spPr>
        <p:txBody>
          <a:bodyPr wrap="square" rtlCol="0" anchor="ctr"/>
          <a:lstStyle/>
          <a:p>
            <a:pPr indent="0" marL="0">
              <a:buNone/>
            </a:pPr>
            <a:r>
              <a:rPr lang="en-US" sz="1500" b="1" dirty="0">
                <a:solidFill>
                  <a:srgbClr val="3D2960"/>
                </a:solidFill>
                <a:latin typeface="Calibri" pitchFamily="34" charset="0"/>
                <a:ea typeface="Calibri" pitchFamily="34" charset="-122"/>
                <a:cs typeface="Calibri" pitchFamily="34" charset="-120"/>
              </a:rPr>
              <a:t>管理情報と照合</a:t>
            </a:r>
            <a:endParaRPr lang="en-US" sz="1500" dirty="0"/>
          </a:p>
        </p:txBody>
      </p:sp>
      <p:sp>
        <p:nvSpPr>
          <p:cNvPr id="14" name="Text 12"/>
          <p:cNvSpPr/>
          <p:nvPr/>
        </p:nvSpPr>
        <p:spPr>
          <a:xfrm>
            <a:off x="1737360" y="4123944"/>
            <a:ext cx="8869680" cy="457200"/>
          </a:xfrm>
          <a:prstGeom prst="rect">
            <a:avLst/>
          </a:prstGeom>
          <a:noFill/>
          <a:ln/>
        </p:spPr>
        <p:txBody>
          <a:bodyPr wrap="square" rtlCol="0" anchor="ctr"/>
          <a:lstStyle/>
          <a:p>
            <a:pPr indent="0" marL="0">
              <a:buNone/>
            </a:pPr>
            <a:r>
              <a:rPr lang="en-US" sz="1200" dirty="0">
                <a:solidFill>
                  <a:srgbClr val="241934"/>
                </a:solidFill>
                <a:latin typeface="Calibri" pitchFamily="34" charset="0"/>
                <a:ea typeface="Calibri" pitchFamily="34" charset="-122"/>
                <a:cs typeface="Calibri" pitchFamily="34" charset="-120"/>
              </a:rPr>
              <a:t>そのIDに登録されているフォルダIDと一致するか確認</a:t>
            </a:r>
            <a:endParaRPr lang="en-US" sz="1200" dirty="0"/>
          </a:p>
        </p:txBody>
      </p:sp>
      <p:sp>
        <p:nvSpPr>
          <p:cNvPr id="15" name="Shape 13"/>
          <p:cNvSpPr/>
          <p:nvPr/>
        </p:nvSpPr>
        <p:spPr>
          <a:xfrm>
            <a:off x="548640" y="4800600"/>
            <a:ext cx="777240" cy="1051560"/>
          </a:xfrm>
          <a:prstGeom prst="roundRect">
            <a:avLst>
              <a:gd name="adj" fmla="val 11765"/>
            </a:avLst>
          </a:prstGeom>
          <a:solidFill>
            <a:srgbClr val="3D2960"/>
          </a:solidFill>
          <a:ln/>
        </p:spPr>
      </p:sp>
      <p:sp>
        <p:nvSpPr>
          <p:cNvPr id="16" name="Text 14"/>
          <p:cNvSpPr/>
          <p:nvPr/>
        </p:nvSpPr>
        <p:spPr>
          <a:xfrm>
            <a:off x="548640" y="4800600"/>
            <a:ext cx="777240" cy="10515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Shape 15"/>
          <p:cNvSpPr/>
          <p:nvPr/>
        </p:nvSpPr>
        <p:spPr>
          <a:xfrm>
            <a:off x="1463040" y="4800600"/>
            <a:ext cx="9464040" cy="1051560"/>
          </a:xfrm>
          <a:prstGeom prst="roundRect">
            <a:avLst>
              <a:gd name="adj" fmla="val 8696"/>
            </a:avLst>
          </a:prstGeom>
          <a:solidFill>
            <a:srgbClr val="EFEAFA"/>
          </a:solidFill>
          <a:ln/>
        </p:spPr>
      </p:sp>
      <p:sp>
        <p:nvSpPr>
          <p:cNvPr id="18" name="Text 16"/>
          <p:cNvSpPr/>
          <p:nvPr/>
        </p:nvSpPr>
        <p:spPr>
          <a:xfrm>
            <a:off x="1737360" y="4910328"/>
            <a:ext cx="8869680" cy="411480"/>
          </a:xfrm>
          <a:prstGeom prst="rect">
            <a:avLst/>
          </a:prstGeom>
          <a:noFill/>
          <a:ln/>
        </p:spPr>
        <p:txBody>
          <a:bodyPr wrap="square" rtlCol="0" anchor="ctr"/>
          <a:lstStyle/>
          <a:p>
            <a:pPr indent="0" marL="0">
              <a:buNone/>
            </a:pPr>
            <a:r>
              <a:rPr lang="en-US" sz="1500" b="1" dirty="0">
                <a:solidFill>
                  <a:srgbClr val="3D2960"/>
                </a:solidFill>
                <a:latin typeface="Calibri" pitchFamily="34" charset="0"/>
                <a:ea typeface="Calibri" pitchFamily="34" charset="-122"/>
                <a:cs typeface="Calibri" pitchFamily="34" charset="-120"/>
              </a:rPr>
              <a:t>一致しなければ拒否</a:t>
            </a:r>
            <a:endParaRPr lang="en-US" sz="1500" dirty="0"/>
          </a:p>
        </p:txBody>
      </p:sp>
      <p:sp>
        <p:nvSpPr>
          <p:cNvPr id="19" name="Text 17"/>
          <p:cNvSpPr/>
          <p:nvPr/>
        </p:nvSpPr>
        <p:spPr>
          <a:xfrm>
            <a:off x="1737360" y="5312664"/>
            <a:ext cx="8869680" cy="457200"/>
          </a:xfrm>
          <a:prstGeom prst="rect">
            <a:avLst/>
          </a:prstGeom>
          <a:noFill/>
          <a:ln/>
        </p:spPr>
        <p:txBody>
          <a:bodyPr wrap="square" rtlCol="0" anchor="ctr"/>
          <a:lstStyle/>
          <a:p>
            <a:pPr indent="0" marL="0">
              <a:buNone/>
            </a:pPr>
            <a:r>
              <a:rPr lang="en-US" sz="1200" dirty="0">
                <a:solidFill>
                  <a:srgbClr val="241934"/>
                </a:solidFill>
                <a:latin typeface="Calibri" pitchFamily="34" charset="0"/>
                <a:ea typeface="Calibri" pitchFamily="34" charset="-122"/>
                <a:cs typeface="Calibri" pitchFamily="34" charset="-120"/>
              </a:rPr>
              <a:t>書き込みを中止し、操作ログに記録</a:t>
            </a:r>
            <a:endParaRPr lang="en-US" sz="1200" dirty="0"/>
          </a:p>
        </p:txBody>
      </p:sp>
      <p:sp>
        <p:nvSpPr>
          <p:cNvPr id="20" name="Text 18"/>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DATA RETENTION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退職者データの安全な取り扱い</a:t>
            </a:r>
            <a:endParaRPr lang="en-US" sz="3200" dirty="0"/>
          </a:p>
        </p:txBody>
      </p:sp>
      <p:sp>
        <p:nvSpPr>
          <p:cNvPr id="4" name="Shape 2"/>
          <p:cNvSpPr/>
          <p:nvPr/>
        </p:nvSpPr>
        <p:spPr>
          <a:xfrm>
            <a:off x="548640" y="1965960"/>
            <a:ext cx="2514600" cy="3657600"/>
          </a:xfrm>
          <a:prstGeom prst="roundRect">
            <a:avLst>
              <a:gd name="adj" fmla="val 4364"/>
            </a:avLst>
          </a:prstGeom>
          <a:solidFill>
            <a:srgbClr val="EFEAFA"/>
          </a:solidFill>
          <a:ln/>
        </p:spPr>
      </p:sp>
      <p:sp>
        <p:nvSpPr>
          <p:cNvPr id="5" name="Shape 3"/>
          <p:cNvSpPr/>
          <p:nvPr/>
        </p:nvSpPr>
        <p:spPr>
          <a:xfrm>
            <a:off x="1394460" y="2286000"/>
            <a:ext cx="822960" cy="822960"/>
          </a:xfrm>
          <a:prstGeom prst="ellipse">
            <a:avLst/>
          </a:prstGeom>
          <a:solidFill>
            <a:srgbClr val="3D2960"/>
          </a:solidFill>
          <a:ln/>
        </p:spPr>
      </p:sp>
      <p:sp>
        <p:nvSpPr>
          <p:cNvPr id="6" name="Text 4"/>
          <p:cNvSpPr/>
          <p:nvPr/>
        </p:nvSpPr>
        <p:spPr>
          <a:xfrm>
            <a:off x="1394460" y="226771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7" name="Text 5"/>
          <p:cNvSpPr/>
          <p:nvPr/>
        </p:nvSpPr>
        <p:spPr>
          <a:xfrm>
            <a:off x="685800" y="3291840"/>
            <a:ext cx="2240280" cy="685800"/>
          </a:xfrm>
          <a:prstGeom prst="rect">
            <a:avLst/>
          </a:prstGeom>
          <a:noFill/>
          <a:ln/>
        </p:spPr>
        <p:txBody>
          <a:bodyPr wrap="square" rtlCol="0" anchor="ctr"/>
          <a:lstStyle/>
          <a:p>
            <a:pPr algn="ctr" indent="0" marL="0">
              <a:buNone/>
            </a:pPr>
            <a:r>
              <a:rPr lang="en-US" sz="1350" b="1" dirty="0">
                <a:solidFill>
                  <a:srgbClr val="3D2960"/>
                </a:solidFill>
                <a:latin typeface="Calibri" pitchFamily="34" charset="0"/>
                <a:ea typeface="Calibri" pitchFamily="34" charset="-122"/>
                <a:cs typeface="Calibri" pitchFamily="34" charset="-120"/>
              </a:rPr>
              <a:t>削除は確認モーダル付き</a:t>
            </a:r>
            <a:endParaRPr lang="en-US" sz="1350" dirty="0"/>
          </a:p>
        </p:txBody>
      </p:sp>
      <p:sp>
        <p:nvSpPr>
          <p:cNvPr id="8" name="Text 6"/>
          <p:cNvSpPr/>
          <p:nvPr/>
        </p:nvSpPr>
        <p:spPr>
          <a:xfrm>
            <a:off x="731520" y="4023360"/>
            <a:ext cx="2148840" cy="1463040"/>
          </a:xfrm>
          <a:prstGeom prst="rect">
            <a:avLst/>
          </a:prstGeom>
          <a:noFill/>
          <a:ln/>
        </p:spPr>
        <p:txBody>
          <a:bodyPr wrap="square" rtlCol="0" anchor="ctr"/>
          <a:lstStyle/>
          <a:p>
            <a:pPr algn="ctr" indent="0" marL="0">
              <a:buNone/>
            </a:pPr>
            <a:r>
              <a:rPr lang="en-US" sz="1100" dirty="0">
                <a:solidFill>
                  <a:srgbClr val="241934"/>
                </a:solidFill>
                <a:latin typeface="Calibri" pitchFamily="34" charset="0"/>
                <a:ea typeface="Calibri" pitchFamily="34" charset="-122"/>
                <a:cs typeface="Calibri" pitchFamily="34" charset="-120"/>
              </a:rPr>
              <a:t>誤操作を防ぐため、削除理由の入力と確認画面を必ず経由</a:t>
            </a:r>
            <a:endParaRPr lang="en-US" sz="1100" dirty="0"/>
          </a:p>
        </p:txBody>
      </p:sp>
      <p:sp>
        <p:nvSpPr>
          <p:cNvPr id="9" name="Shape 7"/>
          <p:cNvSpPr/>
          <p:nvPr/>
        </p:nvSpPr>
        <p:spPr>
          <a:xfrm>
            <a:off x="3319272" y="1965960"/>
            <a:ext cx="2514600" cy="3657600"/>
          </a:xfrm>
          <a:prstGeom prst="roundRect">
            <a:avLst>
              <a:gd name="adj" fmla="val 4364"/>
            </a:avLst>
          </a:prstGeom>
          <a:solidFill>
            <a:srgbClr val="EFEAFA"/>
          </a:solidFill>
          <a:ln/>
        </p:spPr>
      </p:sp>
      <p:sp>
        <p:nvSpPr>
          <p:cNvPr id="10" name="Shape 8"/>
          <p:cNvSpPr/>
          <p:nvPr/>
        </p:nvSpPr>
        <p:spPr>
          <a:xfrm>
            <a:off x="4165092" y="2286000"/>
            <a:ext cx="822960" cy="822960"/>
          </a:xfrm>
          <a:prstGeom prst="ellipse">
            <a:avLst/>
          </a:prstGeom>
          <a:solidFill>
            <a:srgbClr val="3D2960"/>
          </a:solidFill>
          <a:ln/>
        </p:spPr>
      </p:sp>
      <p:sp>
        <p:nvSpPr>
          <p:cNvPr id="11" name="Text 9"/>
          <p:cNvSpPr/>
          <p:nvPr/>
        </p:nvSpPr>
        <p:spPr>
          <a:xfrm>
            <a:off x="4165092" y="226771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12" name="Text 10"/>
          <p:cNvSpPr/>
          <p:nvPr/>
        </p:nvSpPr>
        <p:spPr>
          <a:xfrm>
            <a:off x="3456432" y="3291840"/>
            <a:ext cx="2240280" cy="685800"/>
          </a:xfrm>
          <a:prstGeom prst="rect">
            <a:avLst/>
          </a:prstGeom>
          <a:noFill/>
          <a:ln/>
        </p:spPr>
        <p:txBody>
          <a:bodyPr wrap="square" rtlCol="0" anchor="ctr"/>
          <a:lstStyle/>
          <a:p>
            <a:pPr algn="ctr" indent="0" marL="0">
              <a:buNone/>
            </a:pPr>
            <a:r>
              <a:rPr lang="en-US" sz="1350" b="1" dirty="0">
                <a:solidFill>
                  <a:srgbClr val="3D2960"/>
                </a:solidFill>
                <a:latin typeface="Calibri" pitchFamily="34" charset="0"/>
                <a:ea typeface="Calibri" pitchFamily="34" charset="-122"/>
                <a:cs typeface="Calibri" pitchFamily="34" charset="-120"/>
              </a:rPr>
              <a:t>法定保存期間を保持</a:t>
            </a:r>
            <a:endParaRPr lang="en-US" sz="1350" dirty="0"/>
          </a:p>
        </p:txBody>
      </p:sp>
      <p:sp>
        <p:nvSpPr>
          <p:cNvPr id="13" name="Text 11"/>
          <p:cNvSpPr/>
          <p:nvPr/>
        </p:nvSpPr>
        <p:spPr>
          <a:xfrm>
            <a:off x="3502152" y="4023360"/>
            <a:ext cx="2148840" cy="1463040"/>
          </a:xfrm>
          <a:prstGeom prst="rect">
            <a:avLst/>
          </a:prstGeom>
          <a:noFill/>
          <a:ln/>
        </p:spPr>
        <p:txBody>
          <a:bodyPr wrap="square" rtlCol="0" anchor="ctr"/>
          <a:lstStyle/>
          <a:p>
            <a:pPr algn="ctr" indent="0" marL="0">
              <a:buNone/>
            </a:pPr>
            <a:r>
              <a:rPr lang="en-US" sz="1100" dirty="0">
                <a:solidFill>
                  <a:srgbClr val="241934"/>
                </a:solidFill>
                <a:latin typeface="Calibri" pitchFamily="34" charset="0"/>
                <a:ea typeface="Calibri" pitchFamily="34" charset="-122"/>
                <a:cs typeface="Calibri" pitchFamily="34" charset="-120"/>
              </a:rPr>
              <a:t>設定した日数（初期値5年）が経過するまでは完全に削除しない</a:t>
            </a:r>
            <a:endParaRPr lang="en-US" sz="1100" dirty="0"/>
          </a:p>
        </p:txBody>
      </p:sp>
      <p:sp>
        <p:nvSpPr>
          <p:cNvPr id="14" name="Shape 12"/>
          <p:cNvSpPr/>
          <p:nvPr/>
        </p:nvSpPr>
        <p:spPr>
          <a:xfrm>
            <a:off x="6089904" y="1965960"/>
            <a:ext cx="2514600" cy="3657600"/>
          </a:xfrm>
          <a:prstGeom prst="roundRect">
            <a:avLst>
              <a:gd name="adj" fmla="val 4364"/>
            </a:avLst>
          </a:prstGeom>
          <a:solidFill>
            <a:srgbClr val="EFEAFA"/>
          </a:solidFill>
          <a:ln/>
        </p:spPr>
      </p:sp>
      <p:sp>
        <p:nvSpPr>
          <p:cNvPr id="15" name="Shape 13"/>
          <p:cNvSpPr/>
          <p:nvPr/>
        </p:nvSpPr>
        <p:spPr>
          <a:xfrm>
            <a:off x="6935724" y="2286000"/>
            <a:ext cx="822960" cy="822960"/>
          </a:xfrm>
          <a:prstGeom prst="ellipse">
            <a:avLst/>
          </a:prstGeom>
          <a:solidFill>
            <a:srgbClr val="3D2960"/>
          </a:solidFill>
          <a:ln/>
        </p:spPr>
      </p:sp>
      <p:sp>
        <p:nvSpPr>
          <p:cNvPr id="16" name="Text 14"/>
          <p:cNvSpPr/>
          <p:nvPr/>
        </p:nvSpPr>
        <p:spPr>
          <a:xfrm>
            <a:off x="6935724" y="226771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17" name="Text 15"/>
          <p:cNvSpPr/>
          <p:nvPr/>
        </p:nvSpPr>
        <p:spPr>
          <a:xfrm>
            <a:off x="6227064" y="3291840"/>
            <a:ext cx="2240280" cy="685800"/>
          </a:xfrm>
          <a:prstGeom prst="rect">
            <a:avLst/>
          </a:prstGeom>
          <a:noFill/>
          <a:ln/>
        </p:spPr>
        <p:txBody>
          <a:bodyPr wrap="square" rtlCol="0" anchor="ctr"/>
          <a:lstStyle/>
          <a:p>
            <a:pPr algn="ctr" indent="0" marL="0">
              <a:buNone/>
            </a:pPr>
            <a:r>
              <a:rPr lang="en-US" sz="1350" b="1" dirty="0">
                <a:solidFill>
                  <a:srgbClr val="3D2960"/>
                </a:solidFill>
                <a:latin typeface="Calibri" pitchFamily="34" charset="0"/>
                <a:ea typeface="Calibri" pitchFamily="34" charset="-122"/>
                <a:cs typeface="Calibri" pitchFamily="34" charset="-120"/>
              </a:rPr>
              <a:t>1か月前に自動通知</a:t>
            </a:r>
            <a:endParaRPr lang="en-US" sz="1350" dirty="0"/>
          </a:p>
        </p:txBody>
      </p:sp>
      <p:sp>
        <p:nvSpPr>
          <p:cNvPr id="18" name="Text 16"/>
          <p:cNvSpPr/>
          <p:nvPr/>
        </p:nvSpPr>
        <p:spPr>
          <a:xfrm>
            <a:off x="6272784" y="4023360"/>
            <a:ext cx="2148840" cy="1463040"/>
          </a:xfrm>
          <a:prstGeom prst="rect">
            <a:avLst/>
          </a:prstGeom>
          <a:noFill/>
          <a:ln/>
        </p:spPr>
        <p:txBody>
          <a:bodyPr wrap="square" rtlCol="0" anchor="ctr"/>
          <a:lstStyle/>
          <a:p>
            <a:pPr algn="ctr" indent="0" marL="0">
              <a:buNone/>
            </a:pPr>
            <a:r>
              <a:rPr lang="en-US" sz="1100" dirty="0">
                <a:solidFill>
                  <a:srgbClr val="241934"/>
                </a:solidFill>
                <a:latin typeface="Calibri" pitchFamily="34" charset="0"/>
                <a:ea typeface="Calibri" pitchFamily="34" charset="-122"/>
                <a:cs typeface="Calibri" pitchFamily="34" charset="-120"/>
              </a:rPr>
              <a:t>完全削除の1か月前に、管理者へ重要なお知らせとして通知</a:t>
            </a:r>
            <a:endParaRPr lang="en-US" sz="1100" dirty="0"/>
          </a:p>
        </p:txBody>
      </p:sp>
      <p:sp>
        <p:nvSpPr>
          <p:cNvPr id="19" name="Shape 17"/>
          <p:cNvSpPr/>
          <p:nvPr/>
        </p:nvSpPr>
        <p:spPr>
          <a:xfrm>
            <a:off x="8860536" y="1965960"/>
            <a:ext cx="2514600" cy="3657600"/>
          </a:xfrm>
          <a:prstGeom prst="roundRect">
            <a:avLst>
              <a:gd name="adj" fmla="val 4364"/>
            </a:avLst>
          </a:prstGeom>
          <a:solidFill>
            <a:srgbClr val="EFEAFA"/>
          </a:solidFill>
          <a:ln/>
        </p:spPr>
      </p:sp>
      <p:sp>
        <p:nvSpPr>
          <p:cNvPr id="20" name="Shape 18"/>
          <p:cNvSpPr/>
          <p:nvPr/>
        </p:nvSpPr>
        <p:spPr>
          <a:xfrm>
            <a:off x="9706356" y="2286000"/>
            <a:ext cx="822960" cy="822960"/>
          </a:xfrm>
          <a:prstGeom prst="ellipse">
            <a:avLst/>
          </a:prstGeom>
          <a:solidFill>
            <a:srgbClr val="3D2960"/>
          </a:solidFill>
          <a:ln/>
        </p:spPr>
      </p:sp>
      <p:sp>
        <p:nvSpPr>
          <p:cNvPr id="21" name="Text 19"/>
          <p:cNvSpPr/>
          <p:nvPr/>
        </p:nvSpPr>
        <p:spPr>
          <a:xfrm>
            <a:off x="9706356" y="2267712"/>
            <a:ext cx="822960" cy="822960"/>
          </a:xfrm>
          <a:prstGeom prst="rect">
            <a:avLst/>
          </a:prstGeom>
          <a:noFill/>
          <a:ln/>
        </p:spPr>
        <p:txBody>
          <a:bodyPr wrap="square" rtlCol="0" anchor="ctr"/>
          <a:lstStyle/>
          <a:p>
            <a:pPr algn="ctr" indent="0" marL="0">
              <a:buNone/>
            </a:pPr>
            <a:r>
              <a:rPr lang="en-US" sz="2700" dirty="0">
                <a:solidFill>
                  <a:srgbClr val="000000"/>
                </a:solidFill>
                <a:latin typeface="Calibri" pitchFamily="34" charset="0"/>
                <a:ea typeface="Calibri" pitchFamily="34" charset="-122"/>
                <a:cs typeface="Calibri" pitchFamily="34" charset="-120"/>
              </a:rPr>
              <a:t>↩</a:t>
            </a:r>
            <a:endParaRPr lang="en-US" sz="2700" dirty="0"/>
          </a:p>
        </p:txBody>
      </p:sp>
      <p:sp>
        <p:nvSpPr>
          <p:cNvPr id="22" name="Text 20"/>
          <p:cNvSpPr/>
          <p:nvPr/>
        </p:nvSpPr>
        <p:spPr>
          <a:xfrm>
            <a:off x="8997696" y="3291840"/>
            <a:ext cx="2240280" cy="685800"/>
          </a:xfrm>
          <a:prstGeom prst="rect">
            <a:avLst/>
          </a:prstGeom>
          <a:noFill/>
          <a:ln/>
        </p:spPr>
        <p:txBody>
          <a:bodyPr wrap="square" rtlCol="0" anchor="ctr"/>
          <a:lstStyle/>
          <a:p>
            <a:pPr algn="ctr" indent="0" marL="0">
              <a:buNone/>
            </a:pPr>
            <a:r>
              <a:rPr lang="en-US" sz="1350" b="1" dirty="0">
                <a:solidFill>
                  <a:srgbClr val="3D2960"/>
                </a:solidFill>
                <a:latin typeface="Calibri" pitchFamily="34" charset="0"/>
                <a:ea typeface="Calibri" pitchFamily="34" charset="-122"/>
                <a:cs typeface="Calibri" pitchFamily="34" charset="-120"/>
              </a:rPr>
              <a:t>取り消しがいつでも可能</a:t>
            </a:r>
            <a:endParaRPr lang="en-US" sz="1350" dirty="0"/>
          </a:p>
        </p:txBody>
      </p:sp>
      <p:sp>
        <p:nvSpPr>
          <p:cNvPr id="23" name="Text 21"/>
          <p:cNvSpPr/>
          <p:nvPr/>
        </p:nvSpPr>
        <p:spPr>
          <a:xfrm>
            <a:off x="9043416" y="4023360"/>
            <a:ext cx="2148840" cy="1463040"/>
          </a:xfrm>
          <a:prstGeom prst="rect">
            <a:avLst/>
          </a:prstGeom>
          <a:noFill/>
          <a:ln/>
        </p:spPr>
        <p:txBody>
          <a:bodyPr wrap="square" rtlCol="0" anchor="ctr"/>
          <a:lstStyle/>
          <a:p>
            <a:pPr algn="ctr" indent="0" marL="0">
              <a:buNone/>
            </a:pPr>
            <a:r>
              <a:rPr lang="en-US" sz="1100" dirty="0">
                <a:solidFill>
                  <a:srgbClr val="241934"/>
                </a:solidFill>
                <a:latin typeface="Calibri" pitchFamily="34" charset="0"/>
                <a:ea typeface="Calibri" pitchFamily="34" charset="-122"/>
                <a:cs typeface="Calibri" pitchFamily="34" charset="-120"/>
              </a:rPr>
              <a:t>保存期間中であれば、削除予定をいつでも取り消せる</a:t>
            </a:r>
            <a:endParaRPr lang="en-US" sz="1100" dirty="0"/>
          </a:p>
        </p:txBody>
      </p:sp>
      <p:sp>
        <p:nvSpPr>
          <p:cNvPr id="24" name="Text 22"/>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TRACEABILITY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すべての操作が記録される</a:t>
            </a:r>
            <a:endParaRPr lang="en-US" sz="3200" dirty="0"/>
          </a:p>
        </p:txBody>
      </p:sp>
      <p:sp>
        <p:nvSpPr>
          <p:cNvPr id="4" name="Text 2"/>
          <p:cNvSpPr/>
          <p:nvPr/>
        </p:nvSpPr>
        <p:spPr>
          <a:xfrm>
            <a:off x="548640" y="1600200"/>
            <a:ext cx="10789920" cy="45720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「誰が・いつ・何をしたか」を操作ログに残しているため、後から状況を確認・説明できます。</a:t>
            </a:r>
            <a:endParaRPr lang="en-US" sz="1400" dirty="0"/>
          </a:p>
        </p:txBody>
      </p:sp>
      <p:sp>
        <p:nvSpPr>
          <p:cNvPr id="5" name="Shape 3"/>
          <p:cNvSpPr/>
          <p:nvPr/>
        </p:nvSpPr>
        <p:spPr>
          <a:xfrm>
            <a:off x="548640" y="2331720"/>
            <a:ext cx="5120640" cy="777240"/>
          </a:xfrm>
          <a:prstGeom prst="roundRect">
            <a:avLst>
              <a:gd name="adj" fmla="val 9412"/>
            </a:avLst>
          </a:prstGeom>
          <a:solidFill>
            <a:srgbClr val="EFEAFA"/>
          </a:solidFill>
          <a:ln/>
        </p:spPr>
      </p:sp>
      <p:sp>
        <p:nvSpPr>
          <p:cNvPr id="6" name="Text 4"/>
          <p:cNvSpPr/>
          <p:nvPr/>
        </p:nvSpPr>
        <p:spPr>
          <a:xfrm>
            <a:off x="777240" y="23317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1097280" y="23317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ログイン・自動ログイン</a:t>
            </a:r>
            <a:endParaRPr lang="en-US" sz="1300" dirty="0"/>
          </a:p>
        </p:txBody>
      </p:sp>
      <p:sp>
        <p:nvSpPr>
          <p:cNvPr id="8" name="Shape 6"/>
          <p:cNvSpPr/>
          <p:nvPr/>
        </p:nvSpPr>
        <p:spPr>
          <a:xfrm>
            <a:off x="5943600" y="2331720"/>
            <a:ext cx="5120640" cy="777240"/>
          </a:xfrm>
          <a:prstGeom prst="roundRect">
            <a:avLst>
              <a:gd name="adj" fmla="val 9412"/>
            </a:avLst>
          </a:prstGeom>
          <a:solidFill>
            <a:srgbClr val="EFEAFA"/>
          </a:solidFill>
          <a:ln/>
        </p:spPr>
      </p:sp>
      <p:sp>
        <p:nvSpPr>
          <p:cNvPr id="9" name="Text 7"/>
          <p:cNvSpPr/>
          <p:nvPr/>
        </p:nvSpPr>
        <p:spPr>
          <a:xfrm>
            <a:off x="6172200" y="23317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6492240" y="23317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有給の使用・付与・削除</a:t>
            </a:r>
            <a:endParaRPr lang="en-US" sz="1300" dirty="0"/>
          </a:p>
        </p:txBody>
      </p:sp>
      <p:sp>
        <p:nvSpPr>
          <p:cNvPr id="11" name="Shape 9"/>
          <p:cNvSpPr/>
          <p:nvPr/>
        </p:nvSpPr>
        <p:spPr>
          <a:xfrm>
            <a:off x="548640" y="3246120"/>
            <a:ext cx="5120640" cy="777240"/>
          </a:xfrm>
          <a:prstGeom prst="roundRect">
            <a:avLst>
              <a:gd name="adj" fmla="val 9412"/>
            </a:avLst>
          </a:prstGeom>
          <a:solidFill>
            <a:srgbClr val="EFEAFA"/>
          </a:solidFill>
          <a:ln/>
        </p:spPr>
      </p:sp>
      <p:sp>
        <p:nvSpPr>
          <p:cNvPr id="12" name="Text 10"/>
          <p:cNvSpPr/>
          <p:nvPr/>
        </p:nvSpPr>
        <p:spPr>
          <a:xfrm>
            <a:off x="777240" y="32461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097280" y="32461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パスワード変更</a:t>
            </a:r>
            <a:endParaRPr lang="en-US" sz="1300" dirty="0"/>
          </a:p>
        </p:txBody>
      </p:sp>
      <p:sp>
        <p:nvSpPr>
          <p:cNvPr id="14" name="Shape 12"/>
          <p:cNvSpPr/>
          <p:nvPr/>
        </p:nvSpPr>
        <p:spPr>
          <a:xfrm>
            <a:off x="5943600" y="3246120"/>
            <a:ext cx="5120640" cy="777240"/>
          </a:xfrm>
          <a:prstGeom prst="roundRect">
            <a:avLst>
              <a:gd name="adj" fmla="val 9412"/>
            </a:avLst>
          </a:prstGeom>
          <a:solidFill>
            <a:srgbClr val="EFEAFA"/>
          </a:solidFill>
          <a:ln/>
        </p:spPr>
      </p:sp>
      <p:sp>
        <p:nvSpPr>
          <p:cNvPr id="15" name="Text 13"/>
          <p:cNvSpPr/>
          <p:nvPr/>
        </p:nvSpPr>
        <p:spPr>
          <a:xfrm>
            <a:off x="6172200" y="32461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6492240" y="32461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ユーザー情報の変更・削除・復元</a:t>
            </a:r>
            <a:endParaRPr lang="en-US" sz="1300" dirty="0"/>
          </a:p>
        </p:txBody>
      </p:sp>
      <p:sp>
        <p:nvSpPr>
          <p:cNvPr id="17" name="Shape 15"/>
          <p:cNvSpPr/>
          <p:nvPr/>
        </p:nvSpPr>
        <p:spPr>
          <a:xfrm>
            <a:off x="548640" y="4160520"/>
            <a:ext cx="5120640" cy="777240"/>
          </a:xfrm>
          <a:prstGeom prst="roundRect">
            <a:avLst>
              <a:gd name="adj" fmla="val 9412"/>
            </a:avLst>
          </a:prstGeom>
          <a:solidFill>
            <a:srgbClr val="EFEAFA"/>
          </a:solidFill>
          <a:ln/>
        </p:spPr>
      </p:sp>
      <p:sp>
        <p:nvSpPr>
          <p:cNvPr id="18" name="Text 16"/>
          <p:cNvSpPr/>
          <p:nvPr/>
        </p:nvSpPr>
        <p:spPr>
          <a:xfrm>
            <a:off x="777240" y="41605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1097280" y="41605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会社共通ルール・システム設定の変更</a:t>
            </a:r>
            <a:endParaRPr lang="en-US" sz="1300" dirty="0"/>
          </a:p>
        </p:txBody>
      </p:sp>
      <p:sp>
        <p:nvSpPr>
          <p:cNvPr id="20" name="Shape 18"/>
          <p:cNvSpPr/>
          <p:nvPr/>
        </p:nvSpPr>
        <p:spPr>
          <a:xfrm>
            <a:off x="5943600" y="4160520"/>
            <a:ext cx="5120640" cy="777240"/>
          </a:xfrm>
          <a:prstGeom prst="roundRect">
            <a:avLst>
              <a:gd name="adj" fmla="val 9412"/>
            </a:avLst>
          </a:prstGeom>
          <a:solidFill>
            <a:srgbClr val="EFEAFA"/>
          </a:solidFill>
          <a:ln/>
        </p:spPr>
      </p:sp>
      <p:sp>
        <p:nvSpPr>
          <p:cNvPr id="21" name="Text 19"/>
          <p:cNvSpPr/>
          <p:nvPr/>
        </p:nvSpPr>
        <p:spPr>
          <a:xfrm>
            <a:off x="6172200" y="4160520"/>
            <a:ext cx="274320" cy="777240"/>
          </a:xfrm>
          <a:prstGeom prst="rect">
            <a:avLst/>
          </a:prstGeom>
          <a:noFill/>
          <a:ln/>
        </p:spPr>
        <p:txBody>
          <a:bodyPr wrap="square" rtlCol="0" anchor="ctr"/>
          <a:lstStyle/>
          <a:p>
            <a:pPr indent="0" marL="0">
              <a:buNone/>
            </a:pPr>
            <a:r>
              <a:rPr lang="en-US" sz="1000" dirty="0">
                <a:solidFill>
                  <a:srgbClr val="C9962C"/>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6492240" y="4160520"/>
            <a:ext cx="4389120" cy="777240"/>
          </a:xfrm>
          <a:prstGeom prst="rect">
            <a:avLst/>
          </a:prstGeom>
          <a:noFill/>
          <a:ln/>
        </p:spPr>
        <p:txBody>
          <a:bodyPr wrap="square" rtlCol="0" anchor="ctr"/>
          <a:lstStyle/>
          <a:p>
            <a:pPr indent="0" marL="0">
              <a:buNone/>
            </a:pPr>
            <a:r>
              <a:rPr lang="en-US" sz="1300" dirty="0">
                <a:solidFill>
                  <a:srgbClr val="241934"/>
                </a:solidFill>
                <a:latin typeface="Calibri" pitchFamily="34" charset="0"/>
                <a:ea typeface="Calibri" pitchFamily="34" charset="-122"/>
                <a:cs typeface="Calibri" pitchFamily="34" charset="-120"/>
              </a:rPr>
              <a:t>退職者データの1か月前通知・完全削除</a:t>
            </a:r>
            <a:endParaRPr lang="en-US" sz="1300" dirty="0"/>
          </a:p>
        </p:txBody>
      </p:sp>
      <p:sp>
        <p:nvSpPr>
          <p:cNvPr id="23" name="Text 21"/>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C9962C"/>
                </a:solidFill>
                <a:latin typeface="Calibri" pitchFamily="34" charset="0"/>
                <a:ea typeface="Calibri" pitchFamily="34" charset="-122"/>
                <a:cs typeface="Calibri" pitchFamily="34" charset="-120"/>
              </a:rPr>
              <a:t>HONEST LIMITATIONS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200" b="1" dirty="0">
                <a:solidFill>
                  <a:srgbClr val="3D2960"/>
                </a:solidFill>
                <a:latin typeface="Cambria" pitchFamily="34" charset="0"/>
                <a:ea typeface="Cambria" pitchFamily="34" charset="-122"/>
                <a:cs typeface="Cambria" pitchFamily="34" charset="-120"/>
              </a:rPr>
              <a:t>現状のセキュリティ水準について</a:t>
            </a:r>
            <a:endParaRPr lang="en-US" sz="3200" dirty="0"/>
          </a:p>
        </p:txBody>
      </p:sp>
      <p:sp>
        <p:nvSpPr>
          <p:cNvPr id="4" name="Shape 2"/>
          <p:cNvSpPr/>
          <p:nvPr/>
        </p:nvSpPr>
        <p:spPr>
          <a:xfrm>
            <a:off x="548640" y="1783080"/>
            <a:ext cx="10515600" cy="1051560"/>
          </a:xfrm>
          <a:prstGeom prst="roundRect">
            <a:avLst>
              <a:gd name="adj" fmla="val 8696"/>
            </a:avLst>
          </a:prstGeom>
          <a:solidFill>
            <a:srgbClr val="EFEAFA"/>
          </a:solidFill>
          <a:ln/>
        </p:spPr>
      </p:sp>
      <p:sp>
        <p:nvSpPr>
          <p:cNvPr id="5" name="Text 3"/>
          <p:cNvSpPr/>
          <p:nvPr/>
        </p:nvSpPr>
        <p:spPr>
          <a:xfrm>
            <a:off x="868680" y="1938528"/>
            <a:ext cx="3657600" cy="365760"/>
          </a:xfrm>
          <a:prstGeom prst="rect">
            <a:avLst/>
          </a:prstGeom>
          <a:noFill/>
          <a:ln/>
        </p:spPr>
        <p:txBody>
          <a:bodyPr wrap="square" rtlCol="0" anchor="ctr"/>
          <a:lstStyle/>
          <a:p>
            <a:pPr indent="0" marL="0">
              <a:buNone/>
            </a:pPr>
            <a:r>
              <a:rPr lang="en-US" sz="1300" b="1" dirty="0">
                <a:solidFill>
                  <a:srgbClr val="3D2960"/>
                </a:solidFill>
                <a:latin typeface="Calibri" pitchFamily="34" charset="0"/>
                <a:ea typeface="Calibri" pitchFamily="34" charset="-122"/>
                <a:cs typeface="Calibri" pitchFamily="34" charset="-120"/>
              </a:rPr>
              <a:t>想定しているレベル</a:t>
            </a:r>
            <a:endParaRPr lang="en-US" sz="1300" dirty="0"/>
          </a:p>
        </p:txBody>
      </p:sp>
      <p:sp>
        <p:nvSpPr>
          <p:cNvPr id="6" name="Text 4"/>
          <p:cNvSpPr/>
          <p:nvPr/>
        </p:nvSpPr>
        <p:spPr>
          <a:xfrm>
            <a:off x="868680" y="2286000"/>
            <a:ext cx="9875520" cy="502920"/>
          </a:xfrm>
          <a:prstGeom prst="rect">
            <a:avLst/>
          </a:prstGeom>
          <a:noFill/>
          <a:ln/>
        </p:spPr>
        <p:txBody>
          <a:bodyPr wrap="square" rtlCol="0" anchor="ctr"/>
          <a:lstStyle/>
          <a:p>
            <a:pPr indent="0" marL="0">
              <a:buNone/>
            </a:pPr>
            <a:r>
              <a:rPr lang="en-US" sz="1250" dirty="0">
                <a:solidFill>
                  <a:srgbClr val="241934"/>
                </a:solidFill>
                <a:latin typeface="Calibri" pitchFamily="34" charset="0"/>
                <a:ea typeface="Calibri" pitchFamily="34" charset="-122"/>
                <a:cs typeface="Calibri" pitchFamily="34" charset="-120"/>
              </a:rPr>
              <a:t>社員同士がお互いの明細を見られない「一般的な業務利用レベル」の安全性です。国家機密や金融システム相当の高いセキュリティは想定していません。</a:t>
            </a:r>
            <a:endParaRPr lang="en-US" sz="1250" dirty="0"/>
          </a:p>
        </p:txBody>
      </p:sp>
      <p:sp>
        <p:nvSpPr>
          <p:cNvPr id="7" name="Shape 5"/>
          <p:cNvSpPr/>
          <p:nvPr/>
        </p:nvSpPr>
        <p:spPr>
          <a:xfrm>
            <a:off x="548640" y="3200400"/>
            <a:ext cx="457200" cy="457200"/>
          </a:xfrm>
          <a:prstGeom prst="roundRect">
            <a:avLst>
              <a:gd name="adj" fmla="val 50000"/>
            </a:avLst>
          </a:prstGeom>
          <a:solidFill>
            <a:srgbClr val="B23A3A"/>
          </a:solidFill>
          <a:ln/>
        </p:spPr>
      </p:sp>
      <p:sp>
        <p:nvSpPr>
          <p:cNvPr id="8" name="Text 6"/>
          <p:cNvSpPr/>
          <p:nvPr/>
        </p:nvSpPr>
        <p:spPr>
          <a:xfrm>
            <a:off x="548640" y="3200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9" name="Text 7"/>
          <p:cNvSpPr/>
          <p:nvPr/>
        </p:nvSpPr>
        <p:spPr>
          <a:xfrm>
            <a:off x="1234440" y="3154680"/>
            <a:ext cx="9875520" cy="64008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パスワードは暗号化されず、URLの一部として送信される</a:t>
            </a:r>
            <a:endParaRPr lang="en-US" sz="1400" dirty="0"/>
          </a:p>
        </p:txBody>
      </p:sp>
      <p:sp>
        <p:nvSpPr>
          <p:cNvPr id="10" name="Shape 8"/>
          <p:cNvSpPr/>
          <p:nvPr/>
        </p:nvSpPr>
        <p:spPr>
          <a:xfrm>
            <a:off x="548640" y="3977640"/>
            <a:ext cx="457200" cy="457200"/>
          </a:xfrm>
          <a:prstGeom prst="roundRect">
            <a:avLst>
              <a:gd name="adj" fmla="val 50000"/>
            </a:avLst>
          </a:prstGeom>
          <a:solidFill>
            <a:srgbClr val="B23A3A"/>
          </a:solidFill>
          <a:ln/>
        </p:spPr>
      </p:sp>
      <p:sp>
        <p:nvSpPr>
          <p:cNvPr id="11" name="Text 9"/>
          <p:cNvSpPr/>
          <p:nvPr/>
        </p:nvSpPr>
        <p:spPr>
          <a:xfrm>
            <a:off x="548640" y="39776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1234440" y="3931920"/>
            <a:ext cx="9875520" cy="64008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サーバー側の認証はGoogleアカウントの権限のみに依存している</a:t>
            </a:r>
            <a:endParaRPr lang="en-US" sz="1400" dirty="0"/>
          </a:p>
        </p:txBody>
      </p:sp>
      <p:sp>
        <p:nvSpPr>
          <p:cNvPr id="13" name="Shape 11"/>
          <p:cNvSpPr/>
          <p:nvPr/>
        </p:nvSpPr>
        <p:spPr>
          <a:xfrm>
            <a:off x="548640" y="4754880"/>
            <a:ext cx="457200" cy="457200"/>
          </a:xfrm>
          <a:prstGeom prst="roundRect">
            <a:avLst>
              <a:gd name="adj" fmla="val 50000"/>
            </a:avLst>
          </a:prstGeom>
          <a:solidFill>
            <a:srgbClr val="B23A3A"/>
          </a:solidFill>
          <a:ln/>
        </p:spPr>
      </p:sp>
      <p:sp>
        <p:nvSpPr>
          <p:cNvPr id="14" name="Text 12"/>
          <p:cNvSpPr/>
          <p:nvPr/>
        </p:nvSpPr>
        <p:spPr>
          <a:xfrm>
            <a:off x="548640" y="47548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5" name="Text 13"/>
          <p:cNvSpPr/>
          <p:nvPr/>
        </p:nvSpPr>
        <p:spPr>
          <a:xfrm>
            <a:off x="1234440" y="4709160"/>
            <a:ext cx="9875520" cy="640080"/>
          </a:xfrm>
          <a:prstGeom prst="rect">
            <a:avLst/>
          </a:prstGeom>
          <a:noFill/>
          <a:ln/>
        </p:spPr>
        <p:txBody>
          <a:bodyPr wrap="square" rtlCol="0" anchor="ctr"/>
          <a:lstStyle/>
          <a:p>
            <a:pPr indent="0" marL="0">
              <a:buNone/>
            </a:pPr>
            <a:r>
              <a:rPr lang="en-US" sz="1400" dirty="0">
                <a:solidFill>
                  <a:srgbClr val="241934"/>
                </a:solidFill>
                <a:latin typeface="Calibri" pitchFamily="34" charset="0"/>
                <a:ea typeface="Calibri" pitchFamily="34" charset="-122"/>
                <a:cs typeface="Calibri" pitchFamily="34" charset="-120"/>
              </a:rPr>
              <a:t>本格的な人事給与システムのような監査認証・第三者認証は取得していない</a:t>
            </a:r>
            <a:endParaRPr lang="en-US" sz="1400" dirty="0"/>
          </a:p>
        </p:txBody>
      </p:sp>
      <p:sp>
        <p:nvSpPr>
          <p:cNvPr id="16" name="Text 14"/>
          <p:cNvSpPr/>
          <p:nvPr/>
        </p:nvSpPr>
        <p:spPr>
          <a:xfrm>
            <a:off x="548640" y="5852160"/>
            <a:ext cx="10515600" cy="457200"/>
          </a:xfrm>
          <a:prstGeom prst="rect">
            <a:avLst/>
          </a:prstGeom>
          <a:noFill/>
          <a:ln/>
        </p:spPr>
        <p:txBody>
          <a:bodyPr wrap="square" rtlCol="0" anchor="ctr"/>
          <a:lstStyle/>
          <a:p>
            <a:pPr indent="0" marL="0">
              <a:buNone/>
            </a:pPr>
            <a:r>
              <a:rPr lang="en-US" sz="1200" i="1" dirty="0">
                <a:solidFill>
                  <a:srgbClr val="6B6478"/>
                </a:solidFill>
                <a:latin typeface="Calibri" pitchFamily="34" charset="0"/>
                <a:ea typeface="Calibri" pitchFamily="34" charset="-122"/>
                <a:cs typeface="Calibri" pitchFamily="34" charset="-120"/>
              </a:rPr>
              <a:t>この水準で運用を続ける場合、パスワードの使い回し防止や、機密性の高い情報を扱わないことを社内で徹底してください。</a:t>
            </a:r>
            <a:endParaRPr lang="en-US" sz="1200" dirty="0"/>
          </a:p>
        </p:txBody>
      </p:sp>
      <p:sp>
        <p:nvSpPr>
          <p:cNvPr id="17" name="Text 15"/>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1A4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71A40"/>
          </a:solidFill>
          <a:ln/>
        </p:spPr>
      </p:sp>
      <p:sp>
        <p:nvSpPr>
          <p:cNvPr id="3" name="Shape 1"/>
          <p:cNvSpPr/>
          <p:nvPr/>
        </p:nvSpPr>
        <p:spPr>
          <a:xfrm>
            <a:off x="-1371600" y="-1371600"/>
            <a:ext cx="4572000" cy="4572000"/>
          </a:xfrm>
          <a:prstGeom prst="ellipse">
            <a:avLst/>
          </a:prstGeom>
          <a:solidFill>
            <a:srgbClr val="3D2960">
              <a:alpha val="60000"/>
            </a:srgbClr>
          </a:solidFill>
          <a:ln/>
        </p:spPr>
      </p:sp>
      <p:sp>
        <p:nvSpPr>
          <p:cNvPr id="4" name="Text 2"/>
          <p:cNvSpPr/>
          <p:nvPr/>
        </p:nvSpPr>
        <p:spPr>
          <a:xfrm>
            <a:off x="822960" y="2011680"/>
            <a:ext cx="9144000" cy="457200"/>
          </a:xfrm>
          <a:prstGeom prst="rect">
            <a:avLst/>
          </a:prstGeom>
          <a:noFill/>
          <a:ln/>
        </p:spPr>
        <p:txBody>
          <a:bodyPr wrap="square" rtlCol="0" anchor="ctr"/>
          <a:lstStyle/>
          <a:p>
            <a:pPr indent="0" marL="0">
              <a:buNone/>
            </a:pPr>
            <a:r>
              <a:rPr lang="en-US" sz="1600" b="1" spc="200" kern="0" dirty="0">
                <a:solidFill>
                  <a:srgbClr val="C9B8E8"/>
                </a:solidFill>
                <a:latin typeface="Calibri" pitchFamily="34" charset="0"/>
                <a:ea typeface="Calibri" pitchFamily="34" charset="-122"/>
                <a:cs typeface="Calibri" pitchFamily="34" charset="-120"/>
              </a:rPr>
              <a:t>まとめ</a:t>
            </a:r>
            <a:endParaRPr lang="en-US" sz="1600" dirty="0"/>
          </a:p>
        </p:txBody>
      </p:sp>
      <p:sp>
        <p:nvSpPr>
          <p:cNvPr id="5" name="Text 3"/>
          <p:cNvSpPr/>
          <p:nvPr/>
        </p:nvSpPr>
        <p:spPr>
          <a:xfrm>
            <a:off x="822960" y="2514600"/>
            <a:ext cx="10241280" cy="15544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社内向けの実務レベルで安全に設計されていますが、</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万能ではありません。</a:t>
            </a:r>
            <a:endParaRPr lang="en-US" sz="3000" dirty="0"/>
          </a:p>
        </p:txBody>
      </p:sp>
      <p:sp>
        <p:nvSpPr>
          <p:cNvPr id="6" name="Shape 4"/>
          <p:cNvSpPr/>
          <p:nvPr/>
        </p:nvSpPr>
        <p:spPr>
          <a:xfrm>
            <a:off x="822960" y="4160520"/>
            <a:ext cx="2011680" cy="0"/>
          </a:xfrm>
          <a:prstGeom prst="line">
            <a:avLst/>
          </a:prstGeom>
          <a:noFill/>
          <a:ln w="25400">
            <a:solidFill>
              <a:srgbClr val="C9962C"/>
            </a:solidFill>
            <a:prstDash val="solid"/>
          </a:ln>
        </p:spPr>
      </p:sp>
      <p:sp>
        <p:nvSpPr>
          <p:cNvPr id="7" name="Text 5"/>
          <p:cNvSpPr/>
          <p:nvPr/>
        </p:nvSpPr>
        <p:spPr>
          <a:xfrm>
            <a:off x="822960" y="4343400"/>
            <a:ext cx="9144000" cy="457200"/>
          </a:xfrm>
          <a:prstGeom prst="rect">
            <a:avLst/>
          </a:prstGeom>
          <a:noFill/>
          <a:ln/>
        </p:spPr>
        <p:txBody>
          <a:bodyPr wrap="square" rtlCol="0" anchor="ctr"/>
          <a:lstStyle/>
          <a:p>
            <a:pPr indent="0" marL="0">
              <a:buNone/>
            </a:pPr>
            <a:r>
              <a:rPr lang="en-US" sz="1400" dirty="0">
                <a:solidFill>
                  <a:srgbClr val="D8CDEE"/>
                </a:solidFill>
                <a:latin typeface="Calibri" pitchFamily="34" charset="0"/>
                <a:ea typeface="Calibri" pitchFamily="34" charset="-122"/>
                <a:cs typeface="Calibri" pitchFamily="34" charset="-120"/>
              </a:rPr>
              <a:t>ご不明点・懸念点があれば、管理者までご相談ください。</a:t>
            </a:r>
            <a:endParaRPr lang="en-US" sz="1400" dirty="0"/>
          </a:p>
        </p:txBody>
      </p:sp>
      <p:sp>
        <p:nvSpPr>
          <p:cNvPr id="8" name="Text 6"/>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6B6478"/>
                </a:solidFill>
              </a:rPr>
              <a:t>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2026-07-09T23:28:01Z</dcterms:created>
  <dcterms:modified xsi:type="dcterms:W3CDTF">2026-07-09T23:28:01Z</dcterms:modified>
</cp:coreProperties>
</file>